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our major project — the Supply Chain Routing Engine. This is a distributed logistics platform that connects an e-commerce customer experience with a professional host control tower. The system uses a hybrid architecture combining deterministic routing with AI-powered explainability. Our team of three has built this end-to-end — Member 1 handles core algorithms, database, and the UI foundation; Member 2 handles the backend APIs, checkout orchestration, and Redis concurrency; Member 3 handles the analytics dashboards, MapLibre visualization, and frontend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in most e-commerce platforms, the logistics layer is completely opaque. Our system automates warehouse selection entirely using a deterministic routing algorithm that evaluates distance, inventory, and capacity.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stack: React 19 with Vite for the frontend, Node.js Express for APIs, PostgreSQL for storage, Redis for distributed locking, Gemini API for AI, and MapLibre GL for mapping. Key guarantees: sub-50ms checkout, ACID safety, zero AI dependency on checkout, per-SKU lock granularity.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synchronous path handles checkout: Member 1's routing algorithm evaluates warehouses and allocates inventory, then Member 2's checkout orchestration acquires Redis locks, commits PostgreSQL transactions, and returns confirmation. The async path handles AI: Member 2's Gemini integration generates explanations, which Member 3's AI explanation UI renders for the host.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flow showing how all three members' work connects: Member 1's routing algorithm handles distance calculation and inventory allocation, Member 2's checkout orchestration handles Redis locks and PostgreSQL transactions, and Member 3's frontend renders the results for both customer and host 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built the core routing algorithm. It queries active warehouses, filters by inventory, calculates Haversine distance, scores warehouses using a cost function, and performs multi-warehouse allocation when needed. The algorithm also handles split shipments and bin-packing logic.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owns the database schema with 10+ tables and the Control Tower UI foundation. The database uses fully normalized PostgreSQL tables with ACID transactions. The Control Tower UI includes the enterprise design system, MapLibre map integration, KPI cards, and the application shell — all built as reusable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owns the entire checkout orchestration and Redis concurrency layer. The checkout is a single ACID transaction with 12 steps. Redis provides per-SKU distributed locks, rate limiting, and duplicate prevention. The built-in flash-sale stress test proves zero overselling under concurrent load.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also owns the Gemini AI integration with circuit breaker pattern and the Customer Order Simulator frontend. The circuit breaker trips after 5 consecutive Gemini failures and automatically falls back to deterministic template-based explanations. The Order Simulator was built in Week 5 and allows testing the full checkout 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integrated the Control Tower frontend — connecting Member 1's UI foundation with live backend data. This includes MapLibre route visualization, warehouse marker popups with SKU-level inventory, shipment route rendering, and responsive design polish. The popup shows live PostgreSQL data for each warehouse.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built the Analytics dashboard using Recharts — showing KPIs, orders fulfilled per warehouse, routing cost trends, warehouse inventory health charts, and low-stock alerts. They also built the AI explanation UI that displays Gemini vs deterministic fallback breakdowns.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How It Works page was built collaboratively — Member 1 designed the architecture flow and Member 3 handled the frontend integration. It walks through all 7 steps with SYNC/ASYNC labels, shows the dual-path architecture, technology stack, and architecture guarantees. This page serves as a comprehensive reference during viva.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 experience was built by Member 2 (Order Simulator frontend, Week 5) with Member 3 handling final integration and polish. The key principle is information asymmetry: the customer sees the shopping experience and final results, never the internal routing logic.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flow showing each member's contribution. Test results confirm all critical features work: single and multi-warehouse checkout, concurrent checkout with zero overselling, Gemini AI with fallback, and rate limiting.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 Member 1 built the core routing algorithm, database, and UI foundation. Member 2 built the backend APIs, checkout orchestration, Redis concurrency, and Gemini AI. Member 3 built the analytics dashboards, MapLibre visualization, AI explanation UI, and final frontend polish.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4400" b="1">
                <a:solidFill>
                  <a:srgbClr val="FFFFFF"/>
                </a:solidFill>
                <a:latin typeface="Calibri"/>
              </a:defRPr>
            </a:pPr>
            <a:r>
              <a:t>SUPPLY CHAIN ROUTING ENGINE</a:t>
            </a:r>
          </a:p>
        </p:txBody>
      </p:sp>
      <p:sp>
        <p:nvSpPr>
          <p:cNvPr id="4" name="TextBox 3"/>
          <p:cNvSpPr txBox="1"/>
          <p:nvPr/>
        </p:nvSpPr>
        <p:spPr>
          <a:xfrm>
            <a:off x="914400" y="2468880"/>
            <a:ext cx="10058400" cy="548640"/>
          </a:xfrm>
          <a:prstGeom prst="rect">
            <a:avLst/>
          </a:prstGeom>
          <a:noFill/>
        </p:spPr>
        <p:txBody>
          <a:bodyPr wrap="square">
            <a:spAutoFit/>
          </a:bodyPr>
          <a:lstStyle/>
          <a:p>
            <a:pPr algn="ctr">
              <a:defRPr sz="2400" b="0">
                <a:solidFill>
                  <a:srgbClr val="818CF8"/>
                </a:solidFill>
                <a:latin typeface="Calibri"/>
              </a:defRPr>
            </a:pPr>
            <a:r>
              <a:t>Distributed Logistics Platform</a:t>
            </a:r>
          </a:p>
        </p:txBody>
      </p:sp>
      <p:sp>
        <p:nvSpPr>
          <p:cNvPr id="5" name="TextBox 4"/>
          <p:cNvSpPr txBox="1"/>
          <p:nvPr/>
        </p:nvSpPr>
        <p:spPr>
          <a:xfrm>
            <a:off x="914400" y="3108960"/>
            <a:ext cx="10058400" cy="457200"/>
          </a:xfrm>
          <a:prstGeom prst="rect">
            <a:avLst/>
          </a:prstGeom>
          <a:noFill/>
        </p:spPr>
        <p:txBody>
          <a:bodyPr wrap="square">
            <a:spAutoFit/>
          </a:bodyPr>
          <a:lstStyle/>
          <a:p>
            <a:pPr algn="ctr">
              <a:defRPr sz="1600" b="0">
                <a:solidFill>
                  <a:srgbClr val="94A3B8"/>
                </a:solidFill>
                <a:latin typeface="Calibri"/>
              </a:defRPr>
            </a:pPr>
            <a:r>
              <a:t>Optimize  •  Route  •  Fulfill  •  Analyze</a:t>
            </a:r>
          </a:p>
        </p:txBody>
      </p:sp>
      <p:sp>
        <p:nvSpPr>
          <p:cNvPr id="6" name="Rectangle 5"/>
          <p:cNvSpPr/>
          <p:nvPr/>
        </p:nvSpPr>
        <p:spPr>
          <a:xfrm>
            <a:off x="3657600" y="3749039"/>
            <a:ext cx="4876495"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023360"/>
            <a:ext cx="10058400" cy="365760"/>
          </a:xfrm>
          <a:prstGeom prst="rect">
            <a:avLst/>
          </a:prstGeom>
          <a:noFill/>
        </p:spPr>
        <p:txBody>
          <a:bodyPr wrap="square">
            <a:spAutoFit/>
          </a:bodyPr>
          <a:lstStyle/>
          <a:p>
            <a:pPr algn="ctr">
              <a:defRPr sz="1400" b="1">
                <a:solidFill>
                  <a:srgbClr val="64748B"/>
                </a:solidFill>
                <a:latin typeface="Calibri"/>
              </a:defRPr>
            </a:pPr>
            <a:r>
              <a:t>Team Members</a:t>
            </a:r>
          </a:p>
        </p:txBody>
      </p:sp>
      <p:sp>
        <p:nvSpPr>
          <p:cNvPr id="8" name="Rounded Rectangle 7"/>
          <p:cNvSpPr/>
          <p:nvPr/>
        </p:nvSpPr>
        <p:spPr>
          <a:xfrm>
            <a:off x="1371600" y="4480560"/>
            <a:ext cx="2926080" cy="11887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54480" y="4526280"/>
            <a:ext cx="2560320" cy="274320"/>
          </a:xfrm>
          <a:prstGeom prst="rect">
            <a:avLst/>
          </a:prstGeom>
          <a:noFill/>
        </p:spPr>
        <p:txBody>
          <a:bodyPr wrap="square">
            <a:spAutoFit/>
          </a:bodyPr>
          <a:lstStyle/>
          <a:p>
            <a:pPr algn="ctr">
              <a:defRPr sz="1600" b="1">
                <a:solidFill>
                  <a:srgbClr val="818CF8"/>
                </a:solidFill>
                <a:latin typeface="Calibri"/>
              </a:defRPr>
            </a:pPr>
            <a:r>
              <a:t>Member 1</a:t>
            </a:r>
          </a:p>
        </p:txBody>
      </p:sp>
      <p:sp>
        <p:nvSpPr>
          <p:cNvPr id="10" name="TextBox 9"/>
          <p:cNvSpPr txBox="1"/>
          <p:nvPr/>
        </p:nvSpPr>
        <p:spPr>
          <a:xfrm>
            <a:off x="1554480" y="4800600"/>
            <a:ext cx="2560320" cy="228600"/>
          </a:xfrm>
          <a:prstGeom prst="rect">
            <a:avLst/>
          </a:prstGeom>
          <a:noFill/>
        </p:spPr>
        <p:txBody>
          <a:bodyPr wrap="square">
            <a:spAutoFit/>
          </a:bodyPr>
          <a:lstStyle/>
          <a:p>
            <a:pPr algn="ctr">
              <a:defRPr sz="1000" b="1">
                <a:solidFill>
                  <a:srgbClr val="6366F1"/>
                </a:solidFill>
                <a:latin typeface="Calibri"/>
              </a:defRPr>
            </a:pPr>
            <a:r>
              <a:t>Core &amp; UI Foundation</a:t>
            </a:r>
          </a:p>
        </p:txBody>
      </p:sp>
      <p:sp>
        <p:nvSpPr>
          <p:cNvPr id="11" name="TextBox 10"/>
          <p:cNvSpPr txBox="1"/>
          <p:nvPr/>
        </p:nvSpPr>
        <p:spPr>
          <a:xfrm>
            <a:off x="1554480" y="5029200"/>
            <a:ext cx="2560320" cy="548640"/>
          </a:xfrm>
          <a:prstGeom prst="rect">
            <a:avLst/>
          </a:prstGeom>
          <a:noFill/>
        </p:spPr>
        <p:txBody>
          <a:bodyPr wrap="square">
            <a:spAutoFit/>
          </a:bodyPr>
          <a:lstStyle/>
          <a:p>
            <a:pPr algn="ctr">
              <a:defRPr sz="1100" b="0">
                <a:solidFill>
                  <a:srgbClr val="94A3B8"/>
                </a:solidFill>
                <a:latin typeface="Calibri"/>
              </a:defRPr>
            </a:pPr>
            <a:r>
              <a:t>Core Algorithms, Database &amp;</a:t>
            </a:r>
            <a:br/>
            <a:r>
              <a:t>Frontend Foundation Lead</a:t>
            </a:r>
          </a:p>
        </p:txBody>
      </p:sp>
      <p:sp>
        <p:nvSpPr>
          <p:cNvPr id="12" name="Rounded Rectangle 11"/>
          <p:cNvSpPr/>
          <p:nvPr/>
        </p:nvSpPr>
        <p:spPr>
          <a:xfrm>
            <a:off x="4663440" y="4480560"/>
            <a:ext cx="2926080" cy="11887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4526280"/>
            <a:ext cx="2560320" cy="274320"/>
          </a:xfrm>
          <a:prstGeom prst="rect">
            <a:avLst/>
          </a:prstGeom>
          <a:noFill/>
        </p:spPr>
        <p:txBody>
          <a:bodyPr wrap="square">
            <a:spAutoFit/>
          </a:bodyPr>
          <a:lstStyle/>
          <a:p>
            <a:pPr algn="ctr">
              <a:defRPr sz="1600" b="1">
                <a:solidFill>
                  <a:srgbClr val="818CF8"/>
                </a:solidFill>
                <a:latin typeface="Calibri"/>
              </a:defRPr>
            </a:pPr>
            <a:r>
              <a:t>Member 2</a:t>
            </a:r>
          </a:p>
        </p:txBody>
      </p:sp>
      <p:sp>
        <p:nvSpPr>
          <p:cNvPr id="14" name="TextBox 13"/>
          <p:cNvSpPr txBox="1"/>
          <p:nvPr/>
        </p:nvSpPr>
        <p:spPr>
          <a:xfrm>
            <a:off x="4846320" y="4800600"/>
            <a:ext cx="2560320" cy="228600"/>
          </a:xfrm>
          <a:prstGeom prst="rect">
            <a:avLst/>
          </a:prstGeom>
          <a:noFill/>
        </p:spPr>
        <p:txBody>
          <a:bodyPr wrap="square">
            <a:spAutoFit/>
          </a:bodyPr>
          <a:lstStyle/>
          <a:p>
            <a:pPr algn="ctr">
              <a:defRPr sz="1000" b="1">
                <a:solidFill>
                  <a:srgbClr val="FBBF24"/>
                </a:solidFill>
                <a:latin typeface="Calibri"/>
              </a:defRPr>
            </a:pPr>
            <a:r>
              <a:t>Backend &amp; Checkout</a:t>
            </a:r>
          </a:p>
        </p:txBody>
      </p:sp>
      <p:sp>
        <p:nvSpPr>
          <p:cNvPr id="15" name="TextBox 14"/>
          <p:cNvSpPr txBox="1"/>
          <p:nvPr/>
        </p:nvSpPr>
        <p:spPr>
          <a:xfrm>
            <a:off x="4846320" y="5029200"/>
            <a:ext cx="2560320" cy="548640"/>
          </a:xfrm>
          <a:prstGeom prst="rect">
            <a:avLst/>
          </a:prstGeom>
          <a:noFill/>
        </p:spPr>
        <p:txBody>
          <a:bodyPr wrap="square">
            <a:spAutoFit/>
          </a:bodyPr>
          <a:lstStyle/>
          <a:p>
            <a:pPr algn="ctr">
              <a:defRPr sz="1100" b="0">
                <a:solidFill>
                  <a:srgbClr val="94A3B8"/>
                </a:solidFill>
                <a:latin typeface="Calibri"/>
              </a:defRPr>
            </a:pPr>
            <a:r>
              <a:t>API, Logistics Orchestration</a:t>
            </a:r>
            <a:br/>
            <a:r>
              <a:t>&amp; Checkout Lead</a:t>
            </a:r>
          </a:p>
        </p:txBody>
      </p:sp>
      <p:sp>
        <p:nvSpPr>
          <p:cNvPr id="16" name="Rounded Rectangle 15"/>
          <p:cNvSpPr/>
          <p:nvPr/>
        </p:nvSpPr>
        <p:spPr>
          <a:xfrm>
            <a:off x="7955280" y="4480560"/>
            <a:ext cx="2926080" cy="11887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4526280"/>
            <a:ext cx="2560320" cy="274320"/>
          </a:xfrm>
          <a:prstGeom prst="rect">
            <a:avLst/>
          </a:prstGeom>
          <a:noFill/>
        </p:spPr>
        <p:txBody>
          <a:bodyPr wrap="square">
            <a:spAutoFit/>
          </a:bodyPr>
          <a:lstStyle/>
          <a:p>
            <a:pPr algn="ctr">
              <a:defRPr sz="1600" b="1">
                <a:solidFill>
                  <a:srgbClr val="818CF8"/>
                </a:solidFill>
                <a:latin typeface="Calibri"/>
              </a:defRPr>
            </a:pPr>
            <a:r>
              <a:t>Member 3</a:t>
            </a:r>
          </a:p>
        </p:txBody>
      </p:sp>
      <p:sp>
        <p:nvSpPr>
          <p:cNvPr id="18" name="TextBox 17"/>
          <p:cNvSpPr txBox="1"/>
          <p:nvPr/>
        </p:nvSpPr>
        <p:spPr>
          <a:xfrm>
            <a:off x="8138160" y="4800600"/>
            <a:ext cx="2560320" cy="228600"/>
          </a:xfrm>
          <a:prstGeom prst="rect">
            <a:avLst/>
          </a:prstGeom>
          <a:noFill/>
        </p:spPr>
        <p:txBody>
          <a:bodyPr wrap="square">
            <a:spAutoFit/>
          </a:bodyPr>
          <a:lstStyle/>
          <a:p>
            <a:pPr algn="ctr">
              <a:defRPr sz="1000" b="1">
                <a:solidFill>
                  <a:srgbClr val="34D399"/>
                </a:solidFill>
                <a:latin typeface="Calibri"/>
              </a:defRPr>
            </a:pPr>
            <a:r>
              <a:t>Frontend &amp; Analytics</a:t>
            </a:r>
          </a:p>
        </p:txBody>
      </p:sp>
      <p:sp>
        <p:nvSpPr>
          <p:cNvPr id="19" name="TextBox 18"/>
          <p:cNvSpPr txBox="1"/>
          <p:nvPr/>
        </p:nvSpPr>
        <p:spPr>
          <a:xfrm>
            <a:off x="8138160" y="5029200"/>
            <a:ext cx="2560320" cy="548640"/>
          </a:xfrm>
          <a:prstGeom prst="rect">
            <a:avLst/>
          </a:prstGeom>
          <a:noFill/>
        </p:spPr>
        <p:txBody>
          <a:bodyPr wrap="square">
            <a:spAutoFit/>
          </a:bodyPr>
          <a:lstStyle/>
          <a:p>
            <a:pPr algn="ctr">
              <a:defRPr sz="1100" b="0">
                <a:solidFill>
                  <a:srgbClr val="94A3B8"/>
                </a:solidFill>
                <a:latin typeface="Calibri"/>
              </a:defRPr>
            </a:pPr>
            <a:r>
              <a:t>Frontend, Analytics &amp;</a:t>
            </a:r>
            <a:br/>
            <a:r>
              <a:t>Geospatial Visualization Lead</a:t>
            </a:r>
          </a:p>
        </p:txBody>
      </p:sp>
      <p:sp>
        <p:nvSpPr>
          <p:cNvPr id="20" name="TextBox 19"/>
          <p:cNvSpPr txBox="1"/>
          <p:nvPr/>
        </p:nvSpPr>
        <p:spPr>
          <a:xfrm>
            <a:off x="914400" y="6126480"/>
            <a:ext cx="10058400" cy="365760"/>
          </a:xfrm>
          <a:prstGeom prst="rect">
            <a:avLst/>
          </a:prstGeom>
          <a:noFill/>
        </p:spPr>
        <p:txBody>
          <a:bodyPr wrap="square">
            <a:spAutoFit/>
          </a:bodyPr>
          <a:lstStyle/>
          <a:p>
            <a:pPr algn="ctr">
              <a:defRPr sz="1200" b="0">
                <a:solidFill>
                  <a:srgbClr val="64748B"/>
                </a:solidFill>
                <a:latin typeface="Calibri"/>
              </a:defRPr>
            </a:pPr>
            <a:r>
              <a:t>College Major Project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ALL MEMBERS</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Problem Statement &amp; Objectives</a:t>
            </a:r>
          </a:p>
        </p:txBody>
      </p:sp>
      <p:sp>
        <p:nvSpPr>
          <p:cNvPr id="5" name="Rounded Rectangle 4"/>
          <p:cNvSpPr/>
          <p:nvPr/>
        </p:nvSpPr>
        <p:spPr>
          <a:xfrm>
            <a:off x="731520" y="1463040"/>
            <a:ext cx="10698480" cy="1188720"/>
          </a:xfrm>
          <a:prstGeom prst="roundRect">
            <a:avLst/>
          </a:prstGeom>
          <a:solidFill>
            <a:srgbClr val="131A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731520" cy="274320"/>
          </a:xfrm>
          <a:prstGeom prst="rect">
            <a:avLst/>
          </a:prstGeom>
          <a:noFill/>
        </p:spPr>
        <p:txBody>
          <a:bodyPr wrap="square">
            <a:spAutoFit/>
          </a:bodyPr>
          <a:lstStyle/>
          <a:p>
            <a:pPr algn="l">
              <a:defRPr sz="1000" b="1">
                <a:solidFill>
                  <a:srgbClr val="F87171"/>
                </a:solidFill>
                <a:latin typeface="Calibri"/>
              </a:defRPr>
            </a:pPr>
            <a:r>
              <a:t>PROBLEM</a:t>
            </a:r>
          </a:p>
        </p:txBody>
      </p:sp>
      <p:sp>
        <p:nvSpPr>
          <p:cNvPr id="7" name="TextBox 6"/>
          <p:cNvSpPr txBox="1"/>
          <p:nvPr/>
        </p:nvSpPr>
        <p:spPr>
          <a:xfrm>
            <a:off x="1005840" y="1828800"/>
            <a:ext cx="10058400" cy="731520"/>
          </a:xfrm>
          <a:prstGeom prst="rect">
            <a:avLst/>
          </a:prstGeom>
          <a:noFill/>
        </p:spPr>
        <p:txBody>
          <a:bodyPr wrap="square">
            <a:spAutoFit/>
          </a:bodyPr>
          <a:lstStyle/>
          <a:p>
            <a:pPr algn="l">
              <a:defRPr sz="1400" b="0">
                <a:solidFill>
                  <a:srgbClr val="94A3B8"/>
                </a:solidFill>
                <a:latin typeface="Calibri"/>
              </a:defRPr>
            </a:pPr>
            <a:r>
              <a:t>Traditional e-commerce systems hide logistics complexity — hosts have no visibility into routing decisions, warehouse selection, or inventory allocation. Manual warehouse assignment is error-prone and cannot scale under concurrent load.</a:t>
            </a:r>
          </a:p>
        </p:txBody>
      </p:sp>
      <p:sp>
        <p:nvSpPr>
          <p:cNvPr id="8" name="TextBox 7"/>
          <p:cNvSpPr txBox="1"/>
          <p:nvPr/>
        </p:nvSpPr>
        <p:spPr>
          <a:xfrm>
            <a:off x="914400" y="2926080"/>
            <a:ext cx="2743200" cy="274320"/>
          </a:xfrm>
          <a:prstGeom prst="rect">
            <a:avLst/>
          </a:prstGeom>
          <a:noFill/>
        </p:spPr>
        <p:txBody>
          <a:bodyPr wrap="square">
            <a:spAutoFit/>
          </a:bodyPr>
          <a:lstStyle/>
          <a:p>
            <a:pPr algn="l">
              <a:defRPr sz="1200" b="1">
                <a:solidFill>
                  <a:srgbClr val="818CF8"/>
                </a:solidFill>
                <a:latin typeface="Calibri"/>
              </a:defRPr>
            </a:pPr>
            <a:r>
              <a:t>OBJECTIVES</a:t>
            </a:r>
          </a:p>
        </p:txBody>
      </p:sp>
      <p:sp>
        <p:nvSpPr>
          <p:cNvPr id="9" name="TextBox 8"/>
          <p:cNvSpPr txBox="1"/>
          <p:nvPr/>
        </p:nvSpPr>
        <p:spPr>
          <a:xfrm>
            <a:off x="914400" y="3291840"/>
            <a:ext cx="10058400" cy="3200400"/>
          </a:xfrm>
          <a:prstGeom prst="rect">
            <a:avLst/>
          </a:prstGeom>
          <a:noFill/>
        </p:spPr>
        <p:txBody>
          <a:bodyPr wrap="square">
            <a:spAutoFit/>
          </a:bodyPr>
          <a:lstStyle/>
          <a:p>
            <a:pPr>
              <a:spcAft>
                <a:spcPts val="1000"/>
              </a:spcAft>
              <a:defRPr sz="1500">
                <a:solidFill>
                  <a:srgbClr val="E2E8F0"/>
                </a:solidFill>
                <a:latin typeface="Calibri"/>
              </a:defRPr>
            </a:pPr>
            <a:r>
              <a:t>✦  Real-time Control Tower for logistics operators (Host View)</a:t>
            </a:r>
          </a:p>
          <a:p>
            <a:pPr>
              <a:spcAft>
                <a:spcPts val="1000"/>
              </a:spcAft>
              <a:defRPr sz="1500">
                <a:solidFill>
                  <a:srgbClr val="E2E8F0"/>
                </a:solidFill>
                <a:latin typeface="Calibri"/>
              </a:defRPr>
            </a:pPr>
            <a:r>
              <a:t>✦  Seamless e-commerce shopping experience (Customer View)</a:t>
            </a:r>
          </a:p>
          <a:p>
            <a:pPr>
              <a:spcAft>
                <a:spcPts val="1000"/>
              </a:spcAft>
              <a:defRPr sz="1500">
                <a:solidFill>
                  <a:srgbClr val="E2E8F0"/>
                </a:solidFill>
                <a:latin typeface="Calibri"/>
              </a:defRPr>
            </a:pPr>
            <a:r>
              <a:t>✦  Multi-warehouse routing algorithm with distance optimization</a:t>
            </a:r>
          </a:p>
          <a:p>
            <a:pPr>
              <a:spcAft>
                <a:spcPts val="1000"/>
              </a:spcAft>
              <a:defRPr sz="1500">
                <a:solidFill>
                  <a:srgbClr val="E2E8F0"/>
                </a:solidFill>
                <a:latin typeface="Calibri"/>
              </a:defRPr>
            </a:pPr>
            <a:r>
              <a:t>✦  Redis distributed locks preventing overselling under concurrent load</a:t>
            </a:r>
          </a:p>
          <a:p>
            <a:pPr>
              <a:spcAft>
                <a:spcPts val="1000"/>
              </a:spcAft>
              <a:defRPr sz="1500">
                <a:solidFill>
                  <a:srgbClr val="E2E8F0"/>
                </a:solidFill>
                <a:latin typeface="Calibri"/>
              </a:defRPr>
            </a:pPr>
            <a:r>
              <a:t>✦  Gemini AI plain-language routing explanations</a:t>
            </a:r>
          </a:p>
          <a:p>
            <a:pPr>
              <a:spcAft>
                <a:spcPts val="1000"/>
              </a:spcAft>
              <a:defRPr sz="1500">
                <a:solidFill>
                  <a:srgbClr val="E2E8F0"/>
                </a:solidFill>
                <a:latin typeface="Calibri"/>
              </a:defRPr>
            </a:pPr>
            <a:r>
              <a:t>✦  Shared backend — both views use the same database &amp; routing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ALL MEMBERS</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Technology Stack</a:t>
            </a:r>
          </a:p>
        </p:txBody>
      </p:sp>
      <p:sp>
        <p:nvSpPr>
          <p:cNvPr id="5" name="Rounded Rectangle 4"/>
          <p:cNvSpPr/>
          <p:nvPr/>
        </p:nvSpPr>
        <p:spPr>
          <a:xfrm>
            <a:off x="54864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1554480" cy="457200"/>
          </a:xfrm>
          <a:prstGeom prst="rect">
            <a:avLst/>
          </a:prstGeom>
          <a:noFill/>
        </p:spPr>
        <p:txBody>
          <a:bodyPr wrap="square">
            <a:spAutoFit/>
          </a:bodyPr>
          <a:lstStyle/>
          <a:p>
            <a:pPr algn="ctr">
              <a:defRPr sz="1300" b="1">
                <a:solidFill>
                  <a:srgbClr val="FFFFFF"/>
                </a:solidFill>
                <a:latin typeface="Calibri"/>
              </a:defRPr>
            </a:pPr>
            <a:r>
              <a:t>React 19 + Vite</a:t>
            </a:r>
          </a:p>
        </p:txBody>
      </p:sp>
      <p:sp>
        <p:nvSpPr>
          <p:cNvPr id="7" name="TextBox 6"/>
          <p:cNvSpPr txBox="1"/>
          <p:nvPr/>
        </p:nvSpPr>
        <p:spPr>
          <a:xfrm>
            <a:off x="640080" y="2103120"/>
            <a:ext cx="1554480" cy="274320"/>
          </a:xfrm>
          <a:prstGeom prst="rect">
            <a:avLst/>
          </a:prstGeom>
          <a:noFill/>
        </p:spPr>
        <p:txBody>
          <a:bodyPr wrap="square">
            <a:spAutoFit/>
          </a:bodyPr>
          <a:lstStyle/>
          <a:p>
            <a:pPr algn="ctr">
              <a:defRPr sz="900" b="1">
                <a:solidFill>
                  <a:srgbClr val="818CF8"/>
                </a:solidFill>
                <a:latin typeface="Calibri"/>
              </a:defRPr>
            </a:pPr>
            <a:r>
              <a:t>FRONTEND</a:t>
            </a:r>
          </a:p>
        </p:txBody>
      </p:sp>
      <p:sp>
        <p:nvSpPr>
          <p:cNvPr id="8" name="TextBox 7"/>
          <p:cNvSpPr txBox="1"/>
          <p:nvPr/>
        </p:nvSpPr>
        <p:spPr>
          <a:xfrm>
            <a:off x="640080" y="2468880"/>
            <a:ext cx="1554480" cy="731520"/>
          </a:xfrm>
          <a:prstGeom prst="rect">
            <a:avLst/>
          </a:prstGeom>
          <a:noFill/>
        </p:spPr>
        <p:txBody>
          <a:bodyPr wrap="square">
            <a:spAutoFit/>
          </a:bodyPr>
          <a:lstStyle/>
          <a:p>
            <a:pPr algn="ctr">
              <a:defRPr sz="1100" b="0">
                <a:solidFill>
                  <a:srgbClr val="94A3B8"/>
                </a:solidFill>
                <a:latin typeface="Calibri"/>
              </a:defRPr>
            </a:pPr>
            <a:r>
              <a:t>Component-driven SPA</a:t>
            </a:r>
            <a:br/>
            <a:r>
              <a:t>with hot reload</a:t>
            </a:r>
          </a:p>
        </p:txBody>
      </p:sp>
      <p:sp>
        <p:nvSpPr>
          <p:cNvPr id="9" name="Rounded Rectangle 8"/>
          <p:cNvSpPr/>
          <p:nvPr/>
        </p:nvSpPr>
        <p:spPr>
          <a:xfrm>
            <a:off x="246888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691640"/>
            <a:ext cx="1554480" cy="457200"/>
          </a:xfrm>
          <a:prstGeom prst="rect">
            <a:avLst/>
          </a:prstGeom>
          <a:noFill/>
        </p:spPr>
        <p:txBody>
          <a:bodyPr wrap="square">
            <a:spAutoFit/>
          </a:bodyPr>
          <a:lstStyle/>
          <a:p>
            <a:pPr algn="ctr">
              <a:defRPr sz="1300" b="1">
                <a:solidFill>
                  <a:srgbClr val="FFFFFF"/>
                </a:solidFill>
                <a:latin typeface="Calibri"/>
              </a:defRPr>
            </a:pPr>
            <a:r>
              <a:t>Node.js + Express</a:t>
            </a:r>
          </a:p>
        </p:txBody>
      </p:sp>
      <p:sp>
        <p:nvSpPr>
          <p:cNvPr id="11" name="TextBox 10"/>
          <p:cNvSpPr txBox="1"/>
          <p:nvPr/>
        </p:nvSpPr>
        <p:spPr>
          <a:xfrm>
            <a:off x="2560320" y="2103120"/>
            <a:ext cx="1554480" cy="274320"/>
          </a:xfrm>
          <a:prstGeom prst="rect">
            <a:avLst/>
          </a:prstGeom>
          <a:noFill/>
        </p:spPr>
        <p:txBody>
          <a:bodyPr wrap="square">
            <a:spAutoFit/>
          </a:bodyPr>
          <a:lstStyle/>
          <a:p>
            <a:pPr algn="ctr">
              <a:defRPr sz="900" b="1">
                <a:solidFill>
                  <a:srgbClr val="818CF8"/>
                </a:solidFill>
                <a:latin typeface="Calibri"/>
              </a:defRPr>
            </a:pPr>
            <a:r>
              <a:t>API SERVER</a:t>
            </a:r>
          </a:p>
        </p:txBody>
      </p:sp>
      <p:sp>
        <p:nvSpPr>
          <p:cNvPr id="12" name="TextBox 11"/>
          <p:cNvSpPr txBox="1"/>
          <p:nvPr/>
        </p:nvSpPr>
        <p:spPr>
          <a:xfrm>
            <a:off x="2560320" y="2468880"/>
            <a:ext cx="1554480" cy="731520"/>
          </a:xfrm>
          <a:prstGeom prst="rect">
            <a:avLst/>
          </a:prstGeom>
          <a:noFill/>
        </p:spPr>
        <p:txBody>
          <a:bodyPr wrap="square">
            <a:spAutoFit/>
          </a:bodyPr>
          <a:lstStyle/>
          <a:p>
            <a:pPr algn="ctr">
              <a:defRPr sz="1100" b="0">
                <a:solidFill>
                  <a:srgbClr val="94A3B8"/>
                </a:solidFill>
                <a:latin typeface="Calibri"/>
              </a:defRPr>
            </a:pPr>
            <a:r>
              <a:t>RESTful endpoints,</a:t>
            </a:r>
            <a:br/>
            <a:r>
              <a:t>middleware chain</a:t>
            </a:r>
          </a:p>
        </p:txBody>
      </p:sp>
      <p:sp>
        <p:nvSpPr>
          <p:cNvPr id="13" name="Rounded Rectangle 12"/>
          <p:cNvSpPr/>
          <p:nvPr/>
        </p:nvSpPr>
        <p:spPr>
          <a:xfrm>
            <a:off x="438912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691640"/>
            <a:ext cx="1554480" cy="457200"/>
          </a:xfrm>
          <a:prstGeom prst="rect">
            <a:avLst/>
          </a:prstGeom>
          <a:noFill/>
        </p:spPr>
        <p:txBody>
          <a:bodyPr wrap="square">
            <a:spAutoFit/>
          </a:bodyPr>
          <a:lstStyle/>
          <a:p>
            <a:pPr algn="ctr">
              <a:defRPr sz="1300" b="1">
                <a:solidFill>
                  <a:srgbClr val="FFFFFF"/>
                </a:solidFill>
                <a:latin typeface="Calibri"/>
              </a:defRPr>
            </a:pPr>
            <a:r>
              <a:t>PostgreSQL</a:t>
            </a:r>
          </a:p>
        </p:txBody>
      </p:sp>
      <p:sp>
        <p:nvSpPr>
          <p:cNvPr id="15" name="TextBox 14"/>
          <p:cNvSpPr txBox="1"/>
          <p:nvPr/>
        </p:nvSpPr>
        <p:spPr>
          <a:xfrm>
            <a:off x="4480560" y="2103120"/>
            <a:ext cx="1554480" cy="274320"/>
          </a:xfrm>
          <a:prstGeom prst="rect">
            <a:avLst/>
          </a:prstGeom>
          <a:noFill/>
        </p:spPr>
        <p:txBody>
          <a:bodyPr wrap="square">
            <a:spAutoFit/>
          </a:bodyPr>
          <a:lstStyle/>
          <a:p>
            <a:pPr algn="ctr">
              <a:defRPr sz="900" b="1">
                <a:solidFill>
                  <a:srgbClr val="818CF8"/>
                </a:solidFill>
                <a:latin typeface="Calibri"/>
              </a:defRPr>
            </a:pPr>
            <a:r>
              <a:t>DATABASE</a:t>
            </a:r>
          </a:p>
        </p:txBody>
      </p:sp>
      <p:sp>
        <p:nvSpPr>
          <p:cNvPr id="16" name="TextBox 15"/>
          <p:cNvSpPr txBox="1"/>
          <p:nvPr/>
        </p:nvSpPr>
        <p:spPr>
          <a:xfrm>
            <a:off x="4480560" y="2468880"/>
            <a:ext cx="1554480" cy="731520"/>
          </a:xfrm>
          <a:prstGeom prst="rect">
            <a:avLst/>
          </a:prstGeom>
          <a:noFill/>
        </p:spPr>
        <p:txBody>
          <a:bodyPr wrap="square">
            <a:spAutoFit/>
          </a:bodyPr>
          <a:lstStyle/>
          <a:p>
            <a:pPr algn="ctr">
              <a:defRPr sz="1100" b="0">
                <a:solidFill>
                  <a:srgbClr val="94A3B8"/>
                </a:solidFill>
                <a:latin typeface="Calibri"/>
              </a:defRPr>
            </a:pPr>
            <a:r>
              <a:t>ACID transactions,</a:t>
            </a:r>
            <a:br/>
            <a:r>
              <a:t>relational integrity</a:t>
            </a:r>
          </a:p>
        </p:txBody>
      </p:sp>
      <p:sp>
        <p:nvSpPr>
          <p:cNvPr id="17" name="Rounded Rectangle 16"/>
          <p:cNvSpPr/>
          <p:nvPr/>
        </p:nvSpPr>
        <p:spPr>
          <a:xfrm>
            <a:off x="630936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91640"/>
            <a:ext cx="1554480" cy="457200"/>
          </a:xfrm>
          <a:prstGeom prst="rect">
            <a:avLst/>
          </a:prstGeom>
          <a:noFill/>
        </p:spPr>
        <p:txBody>
          <a:bodyPr wrap="square">
            <a:spAutoFit/>
          </a:bodyPr>
          <a:lstStyle/>
          <a:p>
            <a:pPr algn="ctr">
              <a:defRPr sz="1300" b="1">
                <a:solidFill>
                  <a:srgbClr val="FFFFFF"/>
                </a:solidFill>
                <a:latin typeface="Calibri"/>
              </a:defRPr>
            </a:pPr>
            <a:r>
              <a:t>Redis</a:t>
            </a:r>
          </a:p>
        </p:txBody>
      </p:sp>
      <p:sp>
        <p:nvSpPr>
          <p:cNvPr id="19" name="TextBox 18"/>
          <p:cNvSpPr txBox="1"/>
          <p:nvPr/>
        </p:nvSpPr>
        <p:spPr>
          <a:xfrm>
            <a:off x="6400800" y="2103120"/>
            <a:ext cx="1554480" cy="274320"/>
          </a:xfrm>
          <a:prstGeom prst="rect">
            <a:avLst/>
          </a:prstGeom>
          <a:noFill/>
        </p:spPr>
        <p:txBody>
          <a:bodyPr wrap="square">
            <a:spAutoFit/>
          </a:bodyPr>
          <a:lstStyle/>
          <a:p>
            <a:pPr algn="ctr">
              <a:defRPr sz="900" b="1">
                <a:solidFill>
                  <a:srgbClr val="818CF8"/>
                </a:solidFill>
                <a:latin typeface="Calibri"/>
              </a:defRPr>
            </a:pPr>
            <a:r>
              <a:t>CACHE / LOCKS</a:t>
            </a:r>
          </a:p>
        </p:txBody>
      </p:sp>
      <p:sp>
        <p:nvSpPr>
          <p:cNvPr id="20" name="TextBox 19"/>
          <p:cNvSpPr txBox="1"/>
          <p:nvPr/>
        </p:nvSpPr>
        <p:spPr>
          <a:xfrm>
            <a:off x="6400800" y="2468880"/>
            <a:ext cx="1554480" cy="731520"/>
          </a:xfrm>
          <a:prstGeom prst="rect">
            <a:avLst/>
          </a:prstGeom>
          <a:noFill/>
        </p:spPr>
        <p:txBody>
          <a:bodyPr wrap="square">
            <a:spAutoFit/>
          </a:bodyPr>
          <a:lstStyle/>
          <a:p>
            <a:pPr algn="ctr">
              <a:defRPr sz="1100" b="0">
                <a:solidFill>
                  <a:srgbClr val="94A3B8"/>
                </a:solidFill>
                <a:latin typeface="Calibri"/>
              </a:defRPr>
            </a:pPr>
            <a:r>
              <a:t>Per-SKU distributed locks,</a:t>
            </a:r>
            <a:br/>
            <a:r>
              <a:t>rate limiting</a:t>
            </a:r>
          </a:p>
        </p:txBody>
      </p:sp>
      <p:sp>
        <p:nvSpPr>
          <p:cNvPr id="21" name="Rounded Rectangle 20"/>
          <p:cNvSpPr/>
          <p:nvPr/>
        </p:nvSpPr>
        <p:spPr>
          <a:xfrm>
            <a:off x="822960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1691640"/>
            <a:ext cx="1554480" cy="457200"/>
          </a:xfrm>
          <a:prstGeom prst="rect">
            <a:avLst/>
          </a:prstGeom>
          <a:noFill/>
        </p:spPr>
        <p:txBody>
          <a:bodyPr wrap="square">
            <a:spAutoFit/>
          </a:bodyPr>
          <a:lstStyle/>
          <a:p>
            <a:pPr algn="ctr">
              <a:defRPr sz="1300" b="1">
                <a:solidFill>
                  <a:srgbClr val="FFFFFF"/>
                </a:solidFill>
                <a:latin typeface="Calibri"/>
              </a:defRPr>
            </a:pPr>
            <a:r>
              <a:t>Gemini API</a:t>
            </a:r>
          </a:p>
        </p:txBody>
      </p:sp>
      <p:sp>
        <p:nvSpPr>
          <p:cNvPr id="23" name="TextBox 22"/>
          <p:cNvSpPr txBox="1"/>
          <p:nvPr/>
        </p:nvSpPr>
        <p:spPr>
          <a:xfrm>
            <a:off x="8321040" y="2103120"/>
            <a:ext cx="1554480" cy="274320"/>
          </a:xfrm>
          <a:prstGeom prst="rect">
            <a:avLst/>
          </a:prstGeom>
          <a:noFill/>
        </p:spPr>
        <p:txBody>
          <a:bodyPr wrap="square">
            <a:spAutoFit/>
          </a:bodyPr>
          <a:lstStyle/>
          <a:p>
            <a:pPr algn="ctr">
              <a:defRPr sz="900" b="1">
                <a:solidFill>
                  <a:srgbClr val="818CF8"/>
                </a:solidFill>
                <a:latin typeface="Calibri"/>
              </a:defRPr>
            </a:pPr>
            <a:r>
              <a:t>AI ENGINE</a:t>
            </a:r>
          </a:p>
        </p:txBody>
      </p:sp>
      <p:sp>
        <p:nvSpPr>
          <p:cNvPr id="24" name="TextBox 23"/>
          <p:cNvSpPr txBox="1"/>
          <p:nvPr/>
        </p:nvSpPr>
        <p:spPr>
          <a:xfrm>
            <a:off x="8321040" y="2468880"/>
            <a:ext cx="1554480" cy="731520"/>
          </a:xfrm>
          <a:prstGeom prst="rect">
            <a:avLst/>
          </a:prstGeom>
          <a:noFill/>
        </p:spPr>
        <p:txBody>
          <a:bodyPr wrap="square">
            <a:spAutoFit/>
          </a:bodyPr>
          <a:lstStyle/>
          <a:p>
            <a:pPr algn="ctr">
              <a:defRPr sz="1100" b="0">
                <a:solidFill>
                  <a:srgbClr val="94A3B8"/>
                </a:solidFill>
                <a:latin typeface="Calibri"/>
              </a:defRPr>
            </a:pPr>
            <a:r>
              <a:t>Async explanation</a:t>
            </a:r>
            <a:br/>
            <a:r>
              <a:t>generation, fallback</a:t>
            </a:r>
          </a:p>
        </p:txBody>
      </p:sp>
      <p:sp>
        <p:nvSpPr>
          <p:cNvPr id="25" name="Rounded Rectangle 24"/>
          <p:cNvSpPr/>
          <p:nvPr/>
        </p:nvSpPr>
        <p:spPr>
          <a:xfrm>
            <a:off x="10149840" y="1554480"/>
            <a:ext cx="1737360" cy="20116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0" y="1691640"/>
            <a:ext cx="1554480" cy="457200"/>
          </a:xfrm>
          <a:prstGeom prst="rect">
            <a:avLst/>
          </a:prstGeom>
          <a:noFill/>
        </p:spPr>
        <p:txBody>
          <a:bodyPr wrap="square">
            <a:spAutoFit/>
          </a:bodyPr>
          <a:lstStyle/>
          <a:p>
            <a:pPr algn="ctr">
              <a:defRPr sz="1300" b="1">
                <a:solidFill>
                  <a:srgbClr val="FFFFFF"/>
                </a:solidFill>
                <a:latin typeface="Calibri"/>
              </a:defRPr>
            </a:pPr>
            <a:r>
              <a:t>MapLibre GL</a:t>
            </a:r>
          </a:p>
        </p:txBody>
      </p:sp>
      <p:sp>
        <p:nvSpPr>
          <p:cNvPr id="27" name="TextBox 26"/>
          <p:cNvSpPr txBox="1"/>
          <p:nvPr/>
        </p:nvSpPr>
        <p:spPr>
          <a:xfrm>
            <a:off x="10241280" y="2103120"/>
            <a:ext cx="1554480" cy="274320"/>
          </a:xfrm>
          <a:prstGeom prst="rect">
            <a:avLst/>
          </a:prstGeom>
          <a:noFill/>
        </p:spPr>
        <p:txBody>
          <a:bodyPr wrap="square">
            <a:spAutoFit/>
          </a:bodyPr>
          <a:lstStyle/>
          <a:p>
            <a:pPr algn="ctr">
              <a:defRPr sz="900" b="1">
                <a:solidFill>
                  <a:srgbClr val="818CF8"/>
                </a:solidFill>
                <a:latin typeface="Calibri"/>
              </a:defRPr>
            </a:pPr>
            <a:r>
              <a:t>MAPPING</a:t>
            </a:r>
          </a:p>
        </p:txBody>
      </p:sp>
      <p:sp>
        <p:nvSpPr>
          <p:cNvPr id="28" name="TextBox 27"/>
          <p:cNvSpPr txBox="1"/>
          <p:nvPr/>
        </p:nvSpPr>
        <p:spPr>
          <a:xfrm>
            <a:off x="10241280" y="2468880"/>
            <a:ext cx="1554480" cy="731520"/>
          </a:xfrm>
          <a:prstGeom prst="rect">
            <a:avLst/>
          </a:prstGeom>
          <a:noFill/>
        </p:spPr>
        <p:txBody>
          <a:bodyPr wrap="square">
            <a:spAutoFit/>
          </a:bodyPr>
          <a:lstStyle/>
          <a:p>
            <a:pPr algn="ctr">
              <a:defRPr sz="1100" b="0">
                <a:solidFill>
                  <a:srgbClr val="94A3B8"/>
                </a:solidFill>
                <a:latin typeface="Calibri"/>
              </a:defRPr>
            </a:pPr>
            <a:r>
              <a:t>Route visualization,</a:t>
            </a:r>
            <a:br/>
            <a:r>
              <a:t>warehouse markers</a:t>
            </a:r>
          </a:p>
        </p:txBody>
      </p:sp>
      <p:sp>
        <p:nvSpPr>
          <p:cNvPr id="29" name="TextBox 28"/>
          <p:cNvSpPr txBox="1"/>
          <p:nvPr/>
        </p:nvSpPr>
        <p:spPr>
          <a:xfrm>
            <a:off x="914400" y="3840480"/>
            <a:ext cx="4572000" cy="274320"/>
          </a:xfrm>
          <a:prstGeom prst="rect">
            <a:avLst/>
          </a:prstGeom>
          <a:noFill/>
        </p:spPr>
        <p:txBody>
          <a:bodyPr wrap="square">
            <a:spAutoFit/>
          </a:bodyPr>
          <a:lstStyle/>
          <a:p>
            <a:pPr algn="l">
              <a:defRPr sz="1200" b="1">
                <a:solidFill>
                  <a:srgbClr val="818CF8"/>
                </a:solidFill>
                <a:latin typeface="Calibri"/>
              </a:defRPr>
            </a:pPr>
            <a:r>
              <a:t>ARCHITECTURE GUARANTEES</a:t>
            </a:r>
          </a:p>
        </p:txBody>
      </p:sp>
      <p:sp>
        <p:nvSpPr>
          <p:cNvPr id="30" name="Rounded Rectangle 29"/>
          <p:cNvSpPr/>
          <p:nvPr/>
        </p:nvSpPr>
        <p:spPr>
          <a:xfrm>
            <a:off x="731520" y="4206240"/>
            <a:ext cx="2560320" cy="16459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343400"/>
            <a:ext cx="2377440" cy="548640"/>
          </a:xfrm>
          <a:prstGeom prst="rect">
            <a:avLst/>
          </a:prstGeom>
          <a:noFill/>
        </p:spPr>
        <p:txBody>
          <a:bodyPr wrap="square">
            <a:spAutoFit/>
          </a:bodyPr>
          <a:lstStyle/>
          <a:p>
            <a:pPr algn="ctr">
              <a:defRPr sz="2800" b="1">
                <a:solidFill>
                  <a:srgbClr val="818CF8"/>
                </a:solidFill>
                <a:latin typeface="Calibri"/>
              </a:defRPr>
            </a:pPr>
            <a:r>
              <a:t>&lt;50ms</a:t>
            </a:r>
          </a:p>
        </p:txBody>
      </p:sp>
      <p:sp>
        <p:nvSpPr>
          <p:cNvPr id="32" name="TextBox 31"/>
          <p:cNvSpPr txBox="1"/>
          <p:nvPr/>
        </p:nvSpPr>
        <p:spPr>
          <a:xfrm>
            <a:off x="822960" y="4892040"/>
            <a:ext cx="2377440" cy="274320"/>
          </a:xfrm>
          <a:prstGeom prst="rect">
            <a:avLst/>
          </a:prstGeom>
          <a:noFill/>
        </p:spPr>
        <p:txBody>
          <a:bodyPr wrap="square">
            <a:spAutoFit/>
          </a:bodyPr>
          <a:lstStyle/>
          <a:p>
            <a:pPr algn="ctr">
              <a:defRPr sz="1000" b="1">
                <a:solidFill>
                  <a:srgbClr val="64748B"/>
                </a:solidFill>
                <a:latin typeface="Calibri"/>
              </a:defRPr>
            </a:pPr>
            <a:r>
              <a:t>CHECKOUT LATENCY</a:t>
            </a:r>
          </a:p>
        </p:txBody>
      </p:sp>
      <p:sp>
        <p:nvSpPr>
          <p:cNvPr id="33" name="TextBox 32"/>
          <p:cNvSpPr txBox="1"/>
          <p:nvPr/>
        </p:nvSpPr>
        <p:spPr>
          <a:xfrm>
            <a:off x="822960" y="5166360"/>
            <a:ext cx="2377440" cy="365760"/>
          </a:xfrm>
          <a:prstGeom prst="rect">
            <a:avLst/>
          </a:prstGeom>
          <a:noFill/>
        </p:spPr>
        <p:txBody>
          <a:bodyPr wrap="square">
            <a:spAutoFit/>
          </a:bodyPr>
          <a:lstStyle/>
          <a:p>
            <a:pPr algn="ctr">
              <a:defRPr sz="1000" b="0">
                <a:solidFill>
                  <a:srgbClr val="94A3B8"/>
                </a:solidFill>
                <a:latin typeface="Calibri"/>
              </a:defRPr>
            </a:pPr>
            <a:r>
              <a:t>Deterministic routing target</a:t>
            </a:r>
          </a:p>
        </p:txBody>
      </p:sp>
      <p:sp>
        <p:nvSpPr>
          <p:cNvPr id="34" name="Rounded Rectangle 33"/>
          <p:cNvSpPr/>
          <p:nvPr/>
        </p:nvSpPr>
        <p:spPr>
          <a:xfrm>
            <a:off x="3566160" y="4206240"/>
            <a:ext cx="2560320" cy="16459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4343400"/>
            <a:ext cx="2377440" cy="548640"/>
          </a:xfrm>
          <a:prstGeom prst="rect">
            <a:avLst/>
          </a:prstGeom>
          <a:noFill/>
        </p:spPr>
        <p:txBody>
          <a:bodyPr wrap="square">
            <a:spAutoFit/>
          </a:bodyPr>
          <a:lstStyle/>
          <a:p>
            <a:pPr algn="ctr">
              <a:defRPr sz="2800" b="1">
                <a:solidFill>
                  <a:srgbClr val="818CF8"/>
                </a:solidFill>
                <a:latin typeface="Calibri"/>
              </a:defRPr>
            </a:pPr>
            <a:r>
              <a:t>ACID</a:t>
            </a:r>
          </a:p>
        </p:txBody>
      </p:sp>
      <p:sp>
        <p:nvSpPr>
          <p:cNvPr id="36" name="TextBox 35"/>
          <p:cNvSpPr txBox="1"/>
          <p:nvPr/>
        </p:nvSpPr>
        <p:spPr>
          <a:xfrm>
            <a:off x="3657600" y="4892040"/>
            <a:ext cx="2377440" cy="274320"/>
          </a:xfrm>
          <a:prstGeom prst="rect">
            <a:avLst/>
          </a:prstGeom>
          <a:noFill/>
        </p:spPr>
        <p:txBody>
          <a:bodyPr wrap="square">
            <a:spAutoFit/>
          </a:bodyPr>
          <a:lstStyle/>
          <a:p>
            <a:pPr algn="ctr">
              <a:defRPr sz="1000" b="1">
                <a:solidFill>
                  <a:srgbClr val="64748B"/>
                </a:solidFill>
                <a:latin typeface="Calibri"/>
              </a:defRPr>
            </a:pPr>
            <a:r>
              <a:t>TRANSACTION SAFETY</a:t>
            </a:r>
          </a:p>
        </p:txBody>
      </p:sp>
      <p:sp>
        <p:nvSpPr>
          <p:cNvPr id="37" name="TextBox 36"/>
          <p:cNvSpPr txBox="1"/>
          <p:nvPr/>
        </p:nvSpPr>
        <p:spPr>
          <a:xfrm>
            <a:off x="3657600" y="5166360"/>
            <a:ext cx="2377440" cy="365760"/>
          </a:xfrm>
          <a:prstGeom prst="rect">
            <a:avLst/>
          </a:prstGeom>
          <a:noFill/>
        </p:spPr>
        <p:txBody>
          <a:bodyPr wrap="square">
            <a:spAutoFit/>
          </a:bodyPr>
          <a:lstStyle/>
          <a:p>
            <a:pPr algn="ctr">
              <a:defRPr sz="1000" b="0">
                <a:solidFill>
                  <a:srgbClr val="94A3B8"/>
                </a:solidFill>
                <a:latin typeface="Calibri"/>
              </a:defRPr>
            </a:pPr>
            <a:r>
              <a:t>PostgreSQL + Redis locks</a:t>
            </a:r>
          </a:p>
        </p:txBody>
      </p:sp>
      <p:sp>
        <p:nvSpPr>
          <p:cNvPr id="38" name="Rounded Rectangle 37"/>
          <p:cNvSpPr/>
          <p:nvPr/>
        </p:nvSpPr>
        <p:spPr>
          <a:xfrm>
            <a:off x="6400800" y="4206240"/>
            <a:ext cx="2560320" cy="16459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92240" y="4343400"/>
            <a:ext cx="2377440" cy="548640"/>
          </a:xfrm>
          <a:prstGeom prst="rect">
            <a:avLst/>
          </a:prstGeom>
          <a:noFill/>
        </p:spPr>
        <p:txBody>
          <a:bodyPr wrap="square">
            <a:spAutoFit/>
          </a:bodyPr>
          <a:lstStyle/>
          <a:p>
            <a:pPr algn="ctr">
              <a:defRPr sz="2800" b="1">
                <a:solidFill>
                  <a:srgbClr val="818CF8"/>
                </a:solidFill>
                <a:latin typeface="Calibri"/>
              </a:defRPr>
            </a:pPr>
            <a:r>
              <a:t>0%</a:t>
            </a:r>
          </a:p>
        </p:txBody>
      </p:sp>
      <p:sp>
        <p:nvSpPr>
          <p:cNvPr id="40" name="TextBox 39"/>
          <p:cNvSpPr txBox="1"/>
          <p:nvPr/>
        </p:nvSpPr>
        <p:spPr>
          <a:xfrm>
            <a:off x="6492240" y="4892040"/>
            <a:ext cx="2377440" cy="274320"/>
          </a:xfrm>
          <a:prstGeom prst="rect">
            <a:avLst/>
          </a:prstGeom>
          <a:noFill/>
        </p:spPr>
        <p:txBody>
          <a:bodyPr wrap="square">
            <a:spAutoFit/>
          </a:bodyPr>
          <a:lstStyle/>
          <a:p>
            <a:pPr algn="ctr">
              <a:defRPr sz="1000" b="1">
                <a:solidFill>
                  <a:srgbClr val="64748B"/>
                </a:solidFill>
                <a:latin typeface="Calibri"/>
              </a:defRPr>
            </a:pPr>
            <a:r>
              <a:t>AI DEPENDENCY</a:t>
            </a:r>
          </a:p>
        </p:txBody>
      </p:sp>
      <p:sp>
        <p:nvSpPr>
          <p:cNvPr id="41" name="TextBox 40"/>
          <p:cNvSpPr txBox="1"/>
          <p:nvPr/>
        </p:nvSpPr>
        <p:spPr>
          <a:xfrm>
            <a:off x="6492240" y="5166360"/>
            <a:ext cx="2377440" cy="365760"/>
          </a:xfrm>
          <a:prstGeom prst="rect">
            <a:avLst/>
          </a:prstGeom>
          <a:noFill/>
        </p:spPr>
        <p:txBody>
          <a:bodyPr wrap="square">
            <a:spAutoFit/>
          </a:bodyPr>
          <a:lstStyle/>
          <a:p>
            <a:pPr algn="ctr">
              <a:defRPr sz="1000" b="0">
                <a:solidFill>
                  <a:srgbClr val="94A3B8"/>
                </a:solidFill>
                <a:latin typeface="Calibri"/>
              </a:defRPr>
            </a:pPr>
            <a:r>
              <a:t>Checkout never waits for AI</a:t>
            </a:r>
          </a:p>
        </p:txBody>
      </p:sp>
      <p:sp>
        <p:nvSpPr>
          <p:cNvPr id="42" name="Rounded Rectangle 41"/>
          <p:cNvSpPr/>
          <p:nvPr/>
        </p:nvSpPr>
        <p:spPr>
          <a:xfrm>
            <a:off x="9235440" y="4206240"/>
            <a:ext cx="2560320" cy="16459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6880" y="4343400"/>
            <a:ext cx="2377440" cy="548640"/>
          </a:xfrm>
          <a:prstGeom prst="rect">
            <a:avLst/>
          </a:prstGeom>
          <a:noFill/>
        </p:spPr>
        <p:txBody>
          <a:bodyPr wrap="square">
            <a:spAutoFit/>
          </a:bodyPr>
          <a:lstStyle/>
          <a:p>
            <a:pPr algn="ctr">
              <a:defRPr sz="2800" b="1">
                <a:solidFill>
                  <a:srgbClr val="818CF8"/>
                </a:solidFill>
                <a:latin typeface="Calibri"/>
              </a:defRPr>
            </a:pPr>
            <a:r>
              <a:t>Per-SKU</a:t>
            </a:r>
          </a:p>
        </p:txBody>
      </p:sp>
      <p:sp>
        <p:nvSpPr>
          <p:cNvPr id="44" name="TextBox 43"/>
          <p:cNvSpPr txBox="1"/>
          <p:nvPr/>
        </p:nvSpPr>
        <p:spPr>
          <a:xfrm>
            <a:off x="9326880" y="4892040"/>
            <a:ext cx="2377440" cy="274320"/>
          </a:xfrm>
          <a:prstGeom prst="rect">
            <a:avLst/>
          </a:prstGeom>
          <a:noFill/>
        </p:spPr>
        <p:txBody>
          <a:bodyPr wrap="square">
            <a:spAutoFit/>
          </a:bodyPr>
          <a:lstStyle/>
          <a:p>
            <a:pPr algn="ctr">
              <a:defRPr sz="1000" b="1">
                <a:solidFill>
                  <a:srgbClr val="64748B"/>
                </a:solidFill>
                <a:latin typeface="Calibri"/>
              </a:defRPr>
            </a:pPr>
            <a:r>
              <a:t>LOCK GRANULARITY</a:t>
            </a:r>
          </a:p>
        </p:txBody>
      </p:sp>
      <p:sp>
        <p:nvSpPr>
          <p:cNvPr id="45" name="TextBox 44"/>
          <p:cNvSpPr txBox="1"/>
          <p:nvPr/>
        </p:nvSpPr>
        <p:spPr>
          <a:xfrm>
            <a:off x="9326880" y="5166360"/>
            <a:ext cx="2377440" cy="365760"/>
          </a:xfrm>
          <a:prstGeom prst="rect">
            <a:avLst/>
          </a:prstGeom>
          <a:noFill/>
        </p:spPr>
        <p:txBody>
          <a:bodyPr wrap="square">
            <a:spAutoFit/>
          </a:bodyPr>
          <a:lstStyle/>
          <a:p>
            <a:pPr algn="ctr">
              <a:defRPr sz="1000" b="0">
                <a:solidFill>
                  <a:srgbClr val="94A3B8"/>
                </a:solidFill>
                <a:latin typeface="Calibri"/>
              </a:defRPr>
            </a:pPr>
            <a:r>
              <a:t>No coarse warehouse 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M1 + M2</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Hybrid Dual-Path Architecture</a:t>
            </a:r>
          </a:p>
        </p:txBody>
      </p:sp>
      <p:sp>
        <p:nvSpPr>
          <p:cNvPr id="5" name="Rounded Rectangle 4"/>
          <p:cNvSpPr/>
          <p:nvPr/>
        </p:nvSpPr>
        <p:spPr>
          <a:xfrm>
            <a:off x="731520" y="1463040"/>
            <a:ext cx="5303520" cy="4572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572000" cy="365760"/>
          </a:xfrm>
          <a:prstGeom prst="rect">
            <a:avLst/>
          </a:prstGeom>
          <a:noFill/>
        </p:spPr>
        <p:txBody>
          <a:bodyPr wrap="square">
            <a:spAutoFit/>
          </a:bodyPr>
          <a:lstStyle/>
          <a:p>
            <a:pPr algn="l">
              <a:defRPr sz="1600" b="1">
                <a:solidFill>
                  <a:srgbClr val="34D399"/>
                </a:solidFill>
                <a:latin typeface="Calibri"/>
              </a:defRPr>
            </a:pPr>
            <a:r>
              <a:t>● SYNCHRONOUS PATH</a:t>
            </a:r>
          </a:p>
        </p:txBody>
      </p:sp>
      <p:sp>
        <p:nvSpPr>
          <p:cNvPr id="7" name="TextBox 6"/>
          <p:cNvSpPr txBox="1"/>
          <p:nvPr/>
        </p:nvSpPr>
        <p:spPr>
          <a:xfrm>
            <a:off x="914400" y="1920240"/>
            <a:ext cx="4572000" cy="274320"/>
          </a:xfrm>
          <a:prstGeom prst="rect">
            <a:avLst/>
          </a:prstGeom>
          <a:noFill/>
        </p:spPr>
        <p:txBody>
          <a:bodyPr wrap="square">
            <a:spAutoFit/>
          </a:bodyPr>
          <a:lstStyle/>
          <a:p>
            <a:pPr algn="l">
              <a:defRPr sz="1000" b="0">
                <a:solidFill>
                  <a:srgbClr val="64748B"/>
                </a:solidFill>
                <a:latin typeface="Calibri"/>
              </a:defRPr>
            </a:pPr>
            <a:r>
              <a:t>Checkout Critical Path — Member 1 (Routing) + Member 2 (Checkout)</a:t>
            </a:r>
          </a:p>
        </p:txBody>
      </p:sp>
      <p:sp>
        <p:nvSpPr>
          <p:cNvPr id="8" name="TextBox 7"/>
          <p:cNvSpPr txBox="1"/>
          <p:nvPr/>
        </p:nvSpPr>
        <p:spPr>
          <a:xfrm>
            <a:off x="1097280" y="2377440"/>
            <a:ext cx="4572000" cy="2743200"/>
          </a:xfrm>
          <a:prstGeom prst="rect">
            <a:avLst/>
          </a:prstGeom>
          <a:noFill/>
        </p:spPr>
        <p:txBody>
          <a:bodyPr wrap="square">
            <a:spAutoFit/>
          </a:bodyPr>
          <a:lstStyle/>
          <a:p>
            <a:pPr>
              <a:spcAft>
                <a:spcPts val="1200"/>
              </a:spcAft>
              <a:defRPr sz="1400">
                <a:solidFill>
                  <a:srgbClr val="E2E8F0"/>
                </a:solidFill>
                <a:latin typeface="Calibri"/>
              </a:defRPr>
            </a:pPr>
            <a:r>
              <a:t>1.  Customer order received</a:t>
            </a:r>
          </a:p>
          <a:p>
            <a:pPr>
              <a:spcAft>
                <a:spcPts val="1200"/>
              </a:spcAft>
              <a:defRPr sz="1400">
                <a:solidFill>
                  <a:srgbClr val="E2E8F0"/>
                </a:solidFill>
                <a:latin typeface="Calibri"/>
              </a:defRPr>
            </a:pPr>
            <a:r>
              <a:t>2.  Routing engine evaluates warehouses  [M1]</a:t>
            </a:r>
          </a:p>
          <a:p>
            <a:pPr>
              <a:spcAft>
                <a:spcPts val="1200"/>
              </a:spcAft>
              <a:defRPr sz="1400">
                <a:solidFill>
                  <a:srgbClr val="E2E8F0"/>
                </a:solidFill>
                <a:latin typeface="Calibri"/>
              </a:defRPr>
            </a:pPr>
            <a:r>
              <a:t>3.  Cost function scores options  [M1]</a:t>
            </a:r>
          </a:p>
          <a:p>
            <a:pPr>
              <a:spcAft>
                <a:spcPts val="1200"/>
              </a:spcAft>
              <a:defRPr sz="1400">
                <a:solidFill>
                  <a:srgbClr val="E2E8F0"/>
                </a:solidFill>
                <a:latin typeface="Calibri"/>
              </a:defRPr>
            </a:pPr>
            <a:r>
              <a:t>4.  Bin-packing determines packaging  [M1]</a:t>
            </a:r>
          </a:p>
          <a:p>
            <a:pPr>
              <a:spcAft>
                <a:spcPts val="1200"/>
              </a:spcAft>
              <a:defRPr sz="1400">
                <a:solidFill>
                  <a:srgbClr val="E2E8F0"/>
                </a:solidFill>
                <a:latin typeface="Calibri"/>
              </a:defRPr>
            </a:pPr>
            <a:r>
              <a:t>5.  Redis lock + PostgreSQL transaction  [M2]</a:t>
            </a:r>
          </a:p>
          <a:p>
            <a:pPr>
              <a:spcAft>
                <a:spcPts val="1200"/>
              </a:spcAft>
              <a:defRPr sz="1400">
                <a:solidFill>
                  <a:srgbClr val="E2E8F0"/>
                </a:solidFill>
                <a:latin typeface="Calibri"/>
              </a:defRPr>
            </a:pPr>
            <a:r>
              <a:t>6.  Instant order confirmation  [M2]</a:t>
            </a:r>
          </a:p>
        </p:txBody>
      </p:sp>
      <p:sp>
        <p:nvSpPr>
          <p:cNvPr id="9" name="TextBox 8"/>
          <p:cNvSpPr txBox="1"/>
          <p:nvPr/>
        </p:nvSpPr>
        <p:spPr>
          <a:xfrm>
            <a:off x="1097280" y="5029200"/>
            <a:ext cx="4572000" cy="365760"/>
          </a:xfrm>
          <a:prstGeom prst="rect">
            <a:avLst/>
          </a:prstGeom>
          <a:noFill/>
        </p:spPr>
        <p:txBody>
          <a:bodyPr wrap="square">
            <a:spAutoFit/>
          </a:bodyPr>
          <a:lstStyle/>
          <a:p>
            <a:pPr algn="l">
              <a:defRPr sz="1200" b="0">
                <a:solidFill>
                  <a:srgbClr val="34D399"/>
                </a:solidFill>
                <a:latin typeface="Calibri"/>
              </a:defRPr>
            </a:pPr>
            <a:r>
              <a:t>Target: &lt;50ms  ·  Zero AI dependency</a:t>
            </a:r>
          </a:p>
        </p:txBody>
      </p:sp>
      <p:sp>
        <p:nvSpPr>
          <p:cNvPr id="10" name="Rounded Rectangle 9"/>
          <p:cNvSpPr/>
          <p:nvPr/>
        </p:nvSpPr>
        <p:spPr>
          <a:xfrm>
            <a:off x="6309360" y="1463040"/>
            <a:ext cx="5303520" cy="4572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54480"/>
            <a:ext cx="4572000" cy="365760"/>
          </a:xfrm>
          <a:prstGeom prst="rect">
            <a:avLst/>
          </a:prstGeom>
          <a:noFill/>
        </p:spPr>
        <p:txBody>
          <a:bodyPr wrap="square">
            <a:spAutoFit/>
          </a:bodyPr>
          <a:lstStyle/>
          <a:p>
            <a:pPr algn="l">
              <a:defRPr sz="1600" b="1">
                <a:solidFill>
                  <a:srgbClr val="818CF8"/>
                </a:solidFill>
                <a:latin typeface="Calibri"/>
              </a:defRPr>
            </a:pPr>
            <a:r>
              <a:t>● ASYNCHRONOUS PATH</a:t>
            </a:r>
          </a:p>
        </p:txBody>
      </p:sp>
      <p:sp>
        <p:nvSpPr>
          <p:cNvPr id="12" name="TextBox 11"/>
          <p:cNvSpPr txBox="1"/>
          <p:nvPr/>
        </p:nvSpPr>
        <p:spPr>
          <a:xfrm>
            <a:off x="6492240" y="1920240"/>
            <a:ext cx="4572000" cy="274320"/>
          </a:xfrm>
          <a:prstGeom prst="rect">
            <a:avLst/>
          </a:prstGeom>
          <a:noFill/>
        </p:spPr>
        <p:txBody>
          <a:bodyPr wrap="square">
            <a:spAutoFit/>
          </a:bodyPr>
          <a:lstStyle/>
          <a:p>
            <a:pPr algn="l">
              <a:defRPr sz="1000" b="0">
                <a:solidFill>
                  <a:srgbClr val="64748B"/>
                </a:solidFill>
                <a:latin typeface="Calibri"/>
              </a:defRPr>
            </a:pPr>
            <a:r>
              <a:t>AI Explanation Path — Member 2 (Gemini) + Member 3 (UI)</a:t>
            </a:r>
          </a:p>
        </p:txBody>
      </p:sp>
      <p:sp>
        <p:nvSpPr>
          <p:cNvPr id="13" name="TextBox 12"/>
          <p:cNvSpPr txBox="1"/>
          <p:nvPr/>
        </p:nvSpPr>
        <p:spPr>
          <a:xfrm>
            <a:off x="6675120" y="2377440"/>
            <a:ext cx="4572000" cy="2743200"/>
          </a:xfrm>
          <a:prstGeom prst="rect">
            <a:avLst/>
          </a:prstGeom>
          <a:noFill/>
        </p:spPr>
        <p:txBody>
          <a:bodyPr wrap="square">
            <a:spAutoFit/>
          </a:bodyPr>
          <a:lstStyle/>
          <a:p>
            <a:pPr>
              <a:spcAft>
                <a:spcPts val="1200"/>
              </a:spcAft>
              <a:defRPr sz="1400">
                <a:solidFill>
                  <a:srgbClr val="E2E8F0"/>
                </a:solidFill>
                <a:latin typeface="Calibri"/>
              </a:defRPr>
            </a:pPr>
            <a:r>
              <a:t>1.  Checkout renders immediately</a:t>
            </a:r>
          </a:p>
          <a:p>
            <a:pPr>
              <a:spcAft>
                <a:spcPts val="1200"/>
              </a:spcAft>
              <a:defRPr sz="1400">
                <a:solidFill>
                  <a:srgbClr val="E2E8F0"/>
                </a:solidFill>
                <a:latin typeface="Calibri"/>
              </a:defRPr>
            </a:pPr>
            <a:r>
              <a:t>2.  Frontend requests explanation  [M3]</a:t>
            </a:r>
          </a:p>
          <a:p>
            <a:pPr>
              <a:spcAft>
                <a:spcPts val="1200"/>
              </a:spcAft>
              <a:defRPr sz="1400">
                <a:solidFill>
                  <a:srgbClr val="E2E8F0"/>
                </a:solidFill>
                <a:latin typeface="Calibri"/>
              </a:defRPr>
            </a:pPr>
            <a:r>
              <a:t>3.  Backend forwards to Gemini  [M2]</a:t>
            </a:r>
          </a:p>
          <a:p>
            <a:pPr>
              <a:spcAft>
                <a:spcPts val="1200"/>
              </a:spcAft>
              <a:defRPr sz="1400">
                <a:solidFill>
                  <a:srgbClr val="E2E8F0"/>
                </a:solidFill>
                <a:latin typeface="Calibri"/>
              </a:defRPr>
            </a:pPr>
            <a:r>
              <a:t>4.  AI generates explanation  [M2]</a:t>
            </a:r>
          </a:p>
          <a:p>
            <a:pPr>
              <a:spcAft>
                <a:spcPts val="1200"/>
              </a:spcAft>
              <a:defRPr sz="1400">
                <a:solidFill>
                  <a:srgbClr val="E2E8F0"/>
                </a:solidFill>
                <a:latin typeface="Calibri"/>
              </a:defRPr>
            </a:pPr>
            <a:r>
              <a:t>5.  Fallback if Gemini unavailable  [M2]</a:t>
            </a:r>
          </a:p>
          <a:p>
            <a:pPr>
              <a:spcAft>
                <a:spcPts val="1200"/>
              </a:spcAft>
              <a:defRPr sz="1400">
                <a:solidFill>
                  <a:srgbClr val="E2E8F0"/>
                </a:solidFill>
                <a:latin typeface="Calibri"/>
              </a:defRPr>
            </a:pPr>
            <a:r>
              <a:t>6.  Explanation displayed to host  [M3]</a:t>
            </a:r>
          </a:p>
        </p:txBody>
      </p:sp>
      <p:sp>
        <p:nvSpPr>
          <p:cNvPr id="14" name="TextBox 13"/>
          <p:cNvSpPr txBox="1"/>
          <p:nvPr/>
        </p:nvSpPr>
        <p:spPr>
          <a:xfrm>
            <a:off x="6675120" y="5029200"/>
            <a:ext cx="4572000" cy="365760"/>
          </a:xfrm>
          <a:prstGeom prst="rect">
            <a:avLst/>
          </a:prstGeom>
          <a:noFill/>
        </p:spPr>
        <p:txBody>
          <a:bodyPr wrap="square">
            <a:spAutoFit/>
          </a:bodyPr>
          <a:lstStyle/>
          <a:p>
            <a:pPr algn="l">
              <a:defRPr sz="1200" b="0">
                <a:solidFill>
                  <a:srgbClr val="818CF8"/>
                </a:solidFill>
                <a:latin typeface="Calibri"/>
              </a:defRPr>
            </a:pPr>
            <a:r>
              <a:t>Non-blocking  ·  Decoupled from checkout</a:t>
            </a:r>
          </a:p>
        </p:txBody>
      </p:sp>
      <p:sp>
        <p:nvSpPr>
          <p:cNvPr id="15" name="Rectangle 14"/>
          <p:cNvSpPr/>
          <p:nvPr/>
        </p:nvSpPr>
        <p:spPr>
          <a:xfrm>
            <a:off x="5989320" y="1645920"/>
            <a:ext cx="25400" cy="42062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6217920"/>
            <a:ext cx="4114800" cy="274320"/>
          </a:xfrm>
          <a:prstGeom prst="rect">
            <a:avLst/>
          </a:prstGeom>
          <a:noFill/>
        </p:spPr>
        <p:txBody>
          <a:bodyPr wrap="square">
            <a:spAutoFit/>
          </a:bodyPr>
          <a:lstStyle/>
          <a:p>
            <a:pPr algn="ctr">
              <a:defRPr sz="1100" b="1">
                <a:solidFill>
                  <a:srgbClr val="FBBF24"/>
                </a:solidFill>
                <a:latin typeface="Calibri"/>
              </a:defRPr>
            </a:pPr>
            <a:r>
              <a:t>━━  ASYNC BOUNDARY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ALL MEMBERS</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End-to-End System Flow</a:t>
            </a:r>
          </a:p>
        </p:txBody>
      </p:sp>
      <p:sp>
        <p:nvSpPr>
          <p:cNvPr id="5" name="Rounded Rectangle 4"/>
          <p:cNvSpPr/>
          <p:nvPr/>
        </p:nvSpPr>
        <p:spPr>
          <a:xfrm>
            <a:off x="4754880" y="1371600"/>
            <a:ext cx="27432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389888"/>
            <a:ext cx="2560320" cy="365760"/>
          </a:xfrm>
          <a:prstGeom prst="rect">
            <a:avLst/>
          </a:prstGeom>
          <a:noFill/>
        </p:spPr>
        <p:txBody>
          <a:bodyPr wrap="square">
            <a:spAutoFit/>
          </a:bodyPr>
          <a:lstStyle/>
          <a:p>
            <a:pPr algn="ctr">
              <a:defRPr sz="1200" b="1">
                <a:solidFill>
                  <a:srgbClr val="FFFFFF"/>
                </a:solidFill>
                <a:latin typeface="Calibri"/>
              </a:defRPr>
            </a:pPr>
            <a:r>
              <a:t>AUTHORIZATION</a:t>
            </a:r>
          </a:p>
        </p:txBody>
      </p:sp>
      <p:sp>
        <p:nvSpPr>
          <p:cNvPr id="7" name="Rounded Rectangle 6"/>
          <p:cNvSpPr/>
          <p:nvPr/>
        </p:nvSpPr>
        <p:spPr>
          <a:xfrm>
            <a:off x="1828800" y="2103120"/>
            <a:ext cx="22860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2121408"/>
            <a:ext cx="2103120" cy="365760"/>
          </a:xfrm>
          <a:prstGeom prst="rect">
            <a:avLst/>
          </a:prstGeom>
          <a:noFill/>
        </p:spPr>
        <p:txBody>
          <a:bodyPr wrap="square">
            <a:spAutoFit/>
          </a:bodyPr>
          <a:lstStyle/>
          <a:p>
            <a:pPr algn="ctr">
              <a:defRPr sz="1200" b="1">
                <a:solidFill>
                  <a:srgbClr val="FFFFFF"/>
                </a:solidFill>
                <a:latin typeface="Calibri"/>
              </a:defRPr>
            </a:pPr>
            <a:r>
              <a:t>CUSTOMER</a:t>
            </a:r>
          </a:p>
        </p:txBody>
      </p:sp>
      <p:sp>
        <p:nvSpPr>
          <p:cNvPr id="9" name="Rounded Rectangle 8"/>
          <p:cNvSpPr/>
          <p:nvPr/>
        </p:nvSpPr>
        <p:spPr>
          <a:xfrm>
            <a:off x="7772400" y="2103120"/>
            <a:ext cx="22860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2121408"/>
            <a:ext cx="2103120" cy="365760"/>
          </a:xfrm>
          <a:prstGeom prst="rect">
            <a:avLst/>
          </a:prstGeom>
          <a:noFill/>
        </p:spPr>
        <p:txBody>
          <a:bodyPr wrap="square">
            <a:spAutoFit/>
          </a:bodyPr>
          <a:lstStyle/>
          <a:p>
            <a:pPr algn="ctr">
              <a:defRPr sz="1200" b="1">
                <a:solidFill>
                  <a:srgbClr val="FFFFFF"/>
                </a:solidFill>
                <a:latin typeface="Calibri"/>
              </a:defRPr>
            </a:pPr>
            <a:r>
              <a:t>HOST</a:t>
            </a:r>
          </a:p>
        </p:txBody>
      </p:sp>
      <p:sp>
        <p:nvSpPr>
          <p:cNvPr id="11" name="TextBox 10"/>
          <p:cNvSpPr txBox="1"/>
          <p:nvPr/>
        </p:nvSpPr>
        <p:spPr>
          <a:xfrm>
            <a:off x="1828800" y="2651760"/>
            <a:ext cx="2286000" cy="457200"/>
          </a:xfrm>
          <a:prstGeom prst="rect">
            <a:avLst/>
          </a:prstGeom>
          <a:noFill/>
        </p:spPr>
        <p:txBody>
          <a:bodyPr wrap="square">
            <a:spAutoFit/>
          </a:bodyPr>
          <a:lstStyle/>
          <a:p>
            <a:pPr algn="ctr">
              <a:defRPr sz="1100" b="0">
                <a:solidFill>
                  <a:srgbClr val="94A3B8"/>
                </a:solidFill>
                <a:latin typeface="Calibri"/>
              </a:defRPr>
            </a:pPr>
            <a:r>
              <a:t>Browse → Cart → Location → Checkout</a:t>
            </a:r>
          </a:p>
        </p:txBody>
      </p:sp>
      <p:sp>
        <p:nvSpPr>
          <p:cNvPr id="12" name="TextBox 11"/>
          <p:cNvSpPr txBox="1"/>
          <p:nvPr/>
        </p:nvSpPr>
        <p:spPr>
          <a:xfrm>
            <a:off x="7772400" y="2651760"/>
            <a:ext cx="2286000" cy="457200"/>
          </a:xfrm>
          <a:prstGeom prst="rect">
            <a:avLst/>
          </a:prstGeom>
          <a:noFill/>
        </p:spPr>
        <p:txBody>
          <a:bodyPr wrap="square">
            <a:spAutoFit/>
          </a:bodyPr>
          <a:lstStyle/>
          <a:p>
            <a:pPr algn="ctr">
              <a:defRPr sz="1100" b="0">
                <a:solidFill>
                  <a:srgbClr val="94A3B8"/>
                </a:solidFill>
                <a:latin typeface="Calibri"/>
              </a:defRPr>
            </a:pPr>
            <a:r>
              <a:t>Manage Products, Inventory, Warehouses</a:t>
            </a:r>
          </a:p>
        </p:txBody>
      </p:sp>
      <p:sp>
        <p:nvSpPr>
          <p:cNvPr id="13" name="Rounded Rectangle 12"/>
          <p:cNvSpPr/>
          <p:nvPr/>
        </p:nvSpPr>
        <p:spPr>
          <a:xfrm>
            <a:off x="4389120" y="3383280"/>
            <a:ext cx="36576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401568"/>
            <a:ext cx="3474720" cy="365760"/>
          </a:xfrm>
          <a:prstGeom prst="rect">
            <a:avLst/>
          </a:prstGeom>
          <a:noFill/>
        </p:spPr>
        <p:txBody>
          <a:bodyPr wrap="square">
            <a:spAutoFit/>
          </a:bodyPr>
          <a:lstStyle/>
          <a:p>
            <a:pPr algn="ctr">
              <a:defRPr sz="1200" b="1">
                <a:solidFill>
                  <a:srgbClr val="FFFFFF"/>
                </a:solidFill>
                <a:latin typeface="Calibri"/>
              </a:defRPr>
            </a:pPr>
            <a:r>
              <a:t>BACKEND + ROUTING ALGORITHM</a:t>
            </a:r>
          </a:p>
        </p:txBody>
      </p:sp>
      <p:sp>
        <p:nvSpPr>
          <p:cNvPr id="15" name="TextBox 14"/>
          <p:cNvSpPr txBox="1"/>
          <p:nvPr/>
        </p:nvSpPr>
        <p:spPr>
          <a:xfrm>
            <a:off x="2286000" y="4206240"/>
            <a:ext cx="1828800" cy="457200"/>
          </a:xfrm>
          <a:prstGeom prst="rect">
            <a:avLst/>
          </a:prstGeom>
          <a:noFill/>
        </p:spPr>
        <p:txBody>
          <a:bodyPr wrap="square">
            <a:spAutoFit/>
          </a:bodyPr>
          <a:lstStyle/>
          <a:p>
            <a:pPr algn="ctr">
              <a:defRPr sz="1100" b="0">
                <a:solidFill>
                  <a:srgbClr val="94A3B8"/>
                </a:solidFill>
                <a:latin typeface="Calibri"/>
              </a:defRPr>
            </a:pPr>
            <a:r>
              <a:t>Distance</a:t>
            </a:r>
            <a:br/>
            <a:r>
              <a:t>Calculation [M1]</a:t>
            </a:r>
          </a:p>
        </p:txBody>
      </p:sp>
      <p:sp>
        <p:nvSpPr>
          <p:cNvPr id="16" name="TextBox 15"/>
          <p:cNvSpPr txBox="1"/>
          <p:nvPr/>
        </p:nvSpPr>
        <p:spPr>
          <a:xfrm>
            <a:off x="5029200" y="4206240"/>
            <a:ext cx="1828800" cy="457200"/>
          </a:xfrm>
          <a:prstGeom prst="rect">
            <a:avLst/>
          </a:prstGeom>
          <a:noFill/>
        </p:spPr>
        <p:txBody>
          <a:bodyPr wrap="square">
            <a:spAutoFit/>
          </a:bodyPr>
          <a:lstStyle/>
          <a:p>
            <a:pPr algn="ctr">
              <a:defRPr sz="1100" b="0">
                <a:solidFill>
                  <a:srgbClr val="94A3B8"/>
                </a:solidFill>
                <a:latin typeface="Calibri"/>
              </a:defRPr>
            </a:pPr>
            <a:r>
              <a:t>Inventory</a:t>
            </a:r>
            <a:br/>
            <a:r>
              <a:t>Allocation [M1]</a:t>
            </a:r>
          </a:p>
        </p:txBody>
      </p:sp>
      <p:sp>
        <p:nvSpPr>
          <p:cNvPr id="17" name="TextBox 16"/>
          <p:cNvSpPr txBox="1"/>
          <p:nvPr/>
        </p:nvSpPr>
        <p:spPr>
          <a:xfrm>
            <a:off x="7772400" y="4206240"/>
            <a:ext cx="1828800" cy="457200"/>
          </a:xfrm>
          <a:prstGeom prst="rect">
            <a:avLst/>
          </a:prstGeom>
          <a:noFill/>
        </p:spPr>
        <p:txBody>
          <a:bodyPr wrap="square">
            <a:spAutoFit/>
          </a:bodyPr>
          <a:lstStyle/>
          <a:p>
            <a:pPr algn="ctr">
              <a:defRPr sz="1100" b="0">
                <a:solidFill>
                  <a:srgbClr val="94A3B8"/>
                </a:solidFill>
                <a:latin typeface="Calibri"/>
              </a:defRPr>
            </a:pPr>
            <a:r>
              <a:t>Redis Lock +</a:t>
            </a:r>
            <a:br/>
            <a:r>
              <a:t>Transaction [M2]</a:t>
            </a:r>
          </a:p>
        </p:txBody>
      </p:sp>
      <p:sp>
        <p:nvSpPr>
          <p:cNvPr id="18" name="Rounded Rectangle 17"/>
          <p:cNvSpPr/>
          <p:nvPr/>
        </p:nvSpPr>
        <p:spPr>
          <a:xfrm>
            <a:off x="4389120" y="5212080"/>
            <a:ext cx="36576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5230368"/>
            <a:ext cx="3474720" cy="365760"/>
          </a:xfrm>
          <a:prstGeom prst="rect">
            <a:avLst/>
          </a:prstGeom>
          <a:noFill/>
        </p:spPr>
        <p:txBody>
          <a:bodyPr wrap="square">
            <a:spAutoFit/>
          </a:bodyPr>
          <a:lstStyle/>
          <a:p>
            <a:pPr algn="ctr">
              <a:defRPr sz="1200" b="1">
                <a:solidFill>
                  <a:srgbClr val="FFFFFF"/>
                </a:solidFill>
                <a:latin typeface="Calibri"/>
              </a:defRPr>
            </a:pPr>
            <a:r>
              <a:t>Shipment + Price + PostgreSQL + Redis</a:t>
            </a:r>
          </a:p>
        </p:txBody>
      </p:sp>
      <p:sp>
        <p:nvSpPr>
          <p:cNvPr id="20" name="Rounded Rectangle 19"/>
          <p:cNvSpPr/>
          <p:nvPr/>
        </p:nvSpPr>
        <p:spPr>
          <a:xfrm>
            <a:off x="1828800" y="5943600"/>
            <a:ext cx="22860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20240" y="5961888"/>
            <a:ext cx="2103120" cy="365760"/>
          </a:xfrm>
          <a:prstGeom prst="rect">
            <a:avLst/>
          </a:prstGeom>
          <a:noFill/>
        </p:spPr>
        <p:txBody>
          <a:bodyPr wrap="square">
            <a:spAutoFit/>
          </a:bodyPr>
          <a:lstStyle/>
          <a:p>
            <a:pPr algn="ctr">
              <a:defRPr sz="1200" b="1">
                <a:solidFill>
                  <a:srgbClr val="FFFFFF"/>
                </a:solidFill>
                <a:latin typeface="Calibri"/>
              </a:defRPr>
            </a:pPr>
            <a:r>
              <a:t>CUSTOMER SEES:</a:t>
            </a:r>
          </a:p>
        </p:txBody>
      </p:sp>
      <p:sp>
        <p:nvSpPr>
          <p:cNvPr id="22" name="TextBox 21"/>
          <p:cNvSpPr txBox="1"/>
          <p:nvPr/>
        </p:nvSpPr>
        <p:spPr>
          <a:xfrm>
            <a:off x="1828800" y="6309360"/>
            <a:ext cx="2286000" cy="457200"/>
          </a:xfrm>
          <a:prstGeom prst="rect">
            <a:avLst/>
          </a:prstGeom>
          <a:noFill/>
        </p:spPr>
        <p:txBody>
          <a:bodyPr wrap="square">
            <a:spAutoFit/>
          </a:bodyPr>
          <a:lstStyle/>
          <a:p>
            <a:pPr algn="ctr">
              <a:defRPr sz="1100" b="0">
                <a:solidFill>
                  <a:srgbClr val="94A3B8"/>
                </a:solidFill>
                <a:latin typeface="Calibri"/>
              </a:defRPr>
            </a:pPr>
            <a:r>
              <a:t>Final Price, Order Status, Tracking</a:t>
            </a:r>
          </a:p>
        </p:txBody>
      </p:sp>
      <p:sp>
        <p:nvSpPr>
          <p:cNvPr id="23" name="Rounded Rectangle 22"/>
          <p:cNvSpPr/>
          <p:nvPr/>
        </p:nvSpPr>
        <p:spPr>
          <a:xfrm>
            <a:off x="7772400" y="5943600"/>
            <a:ext cx="2286000" cy="4114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5961888"/>
            <a:ext cx="2103120" cy="365760"/>
          </a:xfrm>
          <a:prstGeom prst="rect">
            <a:avLst/>
          </a:prstGeom>
          <a:noFill/>
        </p:spPr>
        <p:txBody>
          <a:bodyPr wrap="square">
            <a:spAutoFit/>
          </a:bodyPr>
          <a:lstStyle/>
          <a:p>
            <a:pPr algn="ctr">
              <a:defRPr sz="1200" b="1">
                <a:solidFill>
                  <a:srgbClr val="FFFFFF"/>
                </a:solidFill>
                <a:latin typeface="Calibri"/>
              </a:defRPr>
            </a:pPr>
            <a:r>
              <a:t>HOST SEES: [M3 UI]</a:t>
            </a:r>
          </a:p>
        </p:txBody>
      </p:sp>
      <p:sp>
        <p:nvSpPr>
          <p:cNvPr id="25" name="TextBox 24"/>
          <p:cNvSpPr txBox="1"/>
          <p:nvPr/>
        </p:nvSpPr>
        <p:spPr>
          <a:xfrm>
            <a:off x="7772400" y="6309360"/>
            <a:ext cx="2286000" cy="457200"/>
          </a:xfrm>
          <a:prstGeom prst="rect">
            <a:avLst/>
          </a:prstGeom>
          <a:noFill/>
        </p:spPr>
        <p:txBody>
          <a:bodyPr wrap="square">
            <a:spAutoFit/>
          </a:bodyPr>
          <a:lstStyle/>
          <a:p>
            <a:pPr algn="ctr">
              <a:defRPr sz="1100" b="0">
                <a:solidFill>
                  <a:srgbClr val="94A3B8"/>
                </a:solidFill>
                <a:latin typeface="Calibri"/>
              </a:defRPr>
            </a:pPr>
            <a:r>
              <a:t>Full Analysis, AI, Analytics, Routes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1 — CORE</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Multi-Warehouse Routing Algorithm</a:t>
            </a:r>
          </a:p>
        </p:txBody>
      </p:sp>
      <p:sp>
        <p:nvSpPr>
          <p:cNvPr id="5" name="TextBox 4"/>
          <p:cNvSpPr txBox="1"/>
          <p:nvPr/>
        </p:nvSpPr>
        <p:spPr>
          <a:xfrm>
            <a:off x="914400" y="1188720"/>
            <a:ext cx="7315200" cy="274320"/>
          </a:xfrm>
          <a:prstGeom prst="rect">
            <a:avLst/>
          </a:prstGeom>
          <a:noFill/>
        </p:spPr>
        <p:txBody>
          <a:bodyPr wrap="square">
            <a:spAutoFit/>
          </a:bodyPr>
          <a:lstStyle/>
          <a:p>
            <a:pPr algn="l">
              <a:defRPr sz="1300" b="0">
                <a:solidFill>
                  <a:srgbClr val="64748B"/>
                </a:solidFill>
                <a:latin typeface="Calibri"/>
              </a:defRPr>
            </a:pPr>
            <a:r>
              <a:t>Member 1 — Core Algorithms, Database &amp; Frontend Foundation Lead</a:t>
            </a:r>
          </a:p>
        </p:txBody>
      </p:sp>
      <p:sp>
        <p:nvSpPr>
          <p:cNvPr id="6" name="Rounded Rectangle 5"/>
          <p:cNvSpPr/>
          <p:nvPr/>
        </p:nvSpPr>
        <p:spPr>
          <a:xfrm>
            <a:off x="45720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1600200" cy="228600"/>
          </a:xfrm>
          <a:prstGeom prst="rect">
            <a:avLst/>
          </a:prstGeom>
          <a:noFill/>
        </p:spPr>
        <p:txBody>
          <a:bodyPr wrap="square">
            <a:spAutoFit/>
          </a:bodyPr>
          <a:lstStyle/>
          <a:p>
            <a:pPr algn="ctr">
              <a:defRPr sz="900" b="1">
                <a:solidFill>
                  <a:srgbClr val="818CF8"/>
                </a:solidFill>
                <a:latin typeface="Calibri"/>
              </a:defRPr>
            </a:pPr>
            <a:r>
              <a:t>STEP 1</a:t>
            </a:r>
          </a:p>
        </p:txBody>
      </p:sp>
      <p:sp>
        <p:nvSpPr>
          <p:cNvPr id="8" name="TextBox 7"/>
          <p:cNvSpPr txBox="1"/>
          <p:nvPr/>
        </p:nvSpPr>
        <p:spPr>
          <a:xfrm>
            <a:off x="548640" y="2011680"/>
            <a:ext cx="1600200" cy="640080"/>
          </a:xfrm>
          <a:prstGeom prst="rect">
            <a:avLst/>
          </a:prstGeom>
          <a:noFill/>
        </p:spPr>
        <p:txBody>
          <a:bodyPr wrap="square">
            <a:spAutoFit/>
          </a:bodyPr>
          <a:lstStyle/>
          <a:p>
            <a:pPr algn="ctr">
              <a:defRPr sz="1400" b="1">
                <a:solidFill>
                  <a:srgbClr val="FFFFFF"/>
                </a:solidFill>
                <a:latin typeface="Calibri"/>
              </a:defRPr>
            </a:pPr>
            <a:r>
              <a:t>Find Active</a:t>
            </a:r>
            <a:br/>
            <a:r>
              <a:t>Warehouses</a:t>
            </a:r>
          </a:p>
        </p:txBody>
      </p:sp>
      <p:sp>
        <p:nvSpPr>
          <p:cNvPr id="9" name="TextBox 8"/>
          <p:cNvSpPr txBox="1"/>
          <p:nvPr/>
        </p:nvSpPr>
        <p:spPr>
          <a:xfrm>
            <a:off x="548640" y="2834640"/>
            <a:ext cx="1600200" cy="822960"/>
          </a:xfrm>
          <a:prstGeom prst="rect">
            <a:avLst/>
          </a:prstGeom>
          <a:noFill/>
        </p:spPr>
        <p:txBody>
          <a:bodyPr wrap="square">
            <a:spAutoFit/>
          </a:bodyPr>
          <a:lstStyle/>
          <a:p>
            <a:pPr algn="ctr">
              <a:defRPr sz="1100" b="0">
                <a:solidFill>
                  <a:srgbClr val="94A3B8"/>
                </a:solidFill>
                <a:latin typeface="Calibri"/>
              </a:defRPr>
            </a:pPr>
            <a:r>
              <a:t>Query PostgreSQL for</a:t>
            </a:r>
            <a:br/>
            <a:r>
              <a:t>all active warehouses</a:t>
            </a:r>
          </a:p>
        </p:txBody>
      </p:sp>
      <p:sp>
        <p:nvSpPr>
          <p:cNvPr id="10" name="Rounded Rectangle 9"/>
          <p:cNvSpPr/>
          <p:nvPr/>
        </p:nvSpPr>
        <p:spPr>
          <a:xfrm>
            <a:off x="237744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737360"/>
            <a:ext cx="1600200" cy="228600"/>
          </a:xfrm>
          <a:prstGeom prst="rect">
            <a:avLst/>
          </a:prstGeom>
          <a:noFill/>
        </p:spPr>
        <p:txBody>
          <a:bodyPr wrap="square">
            <a:spAutoFit/>
          </a:bodyPr>
          <a:lstStyle/>
          <a:p>
            <a:pPr algn="ctr">
              <a:defRPr sz="900" b="1">
                <a:solidFill>
                  <a:srgbClr val="818CF8"/>
                </a:solidFill>
                <a:latin typeface="Calibri"/>
              </a:defRPr>
            </a:pPr>
            <a:r>
              <a:t>STEP 2</a:t>
            </a:r>
          </a:p>
        </p:txBody>
      </p:sp>
      <p:sp>
        <p:nvSpPr>
          <p:cNvPr id="12" name="TextBox 11"/>
          <p:cNvSpPr txBox="1"/>
          <p:nvPr/>
        </p:nvSpPr>
        <p:spPr>
          <a:xfrm>
            <a:off x="2468880" y="2011680"/>
            <a:ext cx="1600200" cy="640080"/>
          </a:xfrm>
          <a:prstGeom prst="rect">
            <a:avLst/>
          </a:prstGeom>
          <a:noFill/>
        </p:spPr>
        <p:txBody>
          <a:bodyPr wrap="square">
            <a:spAutoFit/>
          </a:bodyPr>
          <a:lstStyle/>
          <a:p>
            <a:pPr algn="ctr">
              <a:defRPr sz="1400" b="1">
                <a:solidFill>
                  <a:srgbClr val="FFFFFF"/>
                </a:solidFill>
                <a:latin typeface="Calibri"/>
              </a:defRPr>
            </a:pPr>
            <a:r>
              <a:t>Check SKU</a:t>
            </a:r>
            <a:br/>
            <a:r>
              <a:t>Availability</a:t>
            </a:r>
          </a:p>
        </p:txBody>
      </p:sp>
      <p:sp>
        <p:nvSpPr>
          <p:cNvPr id="13" name="TextBox 12"/>
          <p:cNvSpPr txBox="1"/>
          <p:nvPr/>
        </p:nvSpPr>
        <p:spPr>
          <a:xfrm>
            <a:off x="2468880" y="2834640"/>
            <a:ext cx="1600200" cy="822960"/>
          </a:xfrm>
          <a:prstGeom prst="rect">
            <a:avLst/>
          </a:prstGeom>
          <a:noFill/>
        </p:spPr>
        <p:txBody>
          <a:bodyPr wrap="square">
            <a:spAutoFit/>
          </a:bodyPr>
          <a:lstStyle/>
          <a:p>
            <a:pPr algn="ctr">
              <a:defRPr sz="1100" b="0">
                <a:solidFill>
                  <a:srgbClr val="94A3B8"/>
                </a:solidFill>
                <a:latin typeface="Calibri"/>
              </a:defRPr>
            </a:pPr>
            <a:r>
              <a:t>Filter warehouses with</a:t>
            </a:r>
            <a:br/>
            <a:r>
              <a:t>available &gt; reserved</a:t>
            </a:r>
          </a:p>
        </p:txBody>
      </p:sp>
      <p:sp>
        <p:nvSpPr>
          <p:cNvPr id="14" name="Rounded Rectangle 13"/>
          <p:cNvSpPr/>
          <p:nvPr/>
        </p:nvSpPr>
        <p:spPr>
          <a:xfrm>
            <a:off x="429768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737360"/>
            <a:ext cx="1600200" cy="228600"/>
          </a:xfrm>
          <a:prstGeom prst="rect">
            <a:avLst/>
          </a:prstGeom>
          <a:noFill/>
        </p:spPr>
        <p:txBody>
          <a:bodyPr wrap="square">
            <a:spAutoFit/>
          </a:bodyPr>
          <a:lstStyle/>
          <a:p>
            <a:pPr algn="ctr">
              <a:defRPr sz="900" b="1">
                <a:solidFill>
                  <a:srgbClr val="818CF8"/>
                </a:solidFill>
                <a:latin typeface="Calibri"/>
              </a:defRPr>
            </a:pPr>
            <a:r>
              <a:t>STEP 3</a:t>
            </a:r>
          </a:p>
        </p:txBody>
      </p:sp>
      <p:sp>
        <p:nvSpPr>
          <p:cNvPr id="16" name="TextBox 15"/>
          <p:cNvSpPr txBox="1"/>
          <p:nvPr/>
        </p:nvSpPr>
        <p:spPr>
          <a:xfrm>
            <a:off x="4389120" y="2011680"/>
            <a:ext cx="1600200" cy="640080"/>
          </a:xfrm>
          <a:prstGeom prst="rect">
            <a:avLst/>
          </a:prstGeom>
          <a:noFill/>
        </p:spPr>
        <p:txBody>
          <a:bodyPr wrap="square">
            <a:spAutoFit/>
          </a:bodyPr>
          <a:lstStyle/>
          <a:p>
            <a:pPr algn="ctr">
              <a:defRPr sz="1400" b="1">
                <a:solidFill>
                  <a:srgbClr val="FFFFFF"/>
                </a:solidFill>
                <a:latin typeface="Calibri"/>
              </a:defRPr>
            </a:pPr>
            <a:r>
              <a:t>Haversine</a:t>
            </a:r>
            <a:br/>
            <a:r>
              <a:t>Distance</a:t>
            </a:r>
          </a:p>
        </p:txBody>
      </p:sp>
      <p:sp>
        <p:nvSpPr>
          <p:cNvPr id="17" name="TextBox 16"/>
          <p:cNvSpPr txBox="1"/>
          <p:nvPr/>
        </p:nvSpPr>
        <p:spPr>
          <a:xfrm>
            <a:off x="4389120" y="2834640"/>
            <a:ext cx="1600200" cy="822960"/>
          </a:xfrm>
          <a:prstGeom prst="rect">
            <a:avLst/>
          </a:prstGeom>
          <a:noFill/>
        </p:spPr>
        <p:txBody>
          <a:bodyPr wrap="square">
            <a:spAutoFit/>
          </a:bodyPr>
          <a:lstStyle/>
          <a:p>
            <a:pPr algn="ctr">
              <a:defRPr sz="1100" b="0">
                <a:solidFill>
                  <a:srgbClr val="94A3B8"/>
                </a:solidFill>
                <a:latin typeface="Calibri"/>
              </a:defRPr>
            </a:pPr>
            <a:r>
              <a:t>Calculate distance from</a:t>
            </a:r>
            <a:br/>
            <a:r>
              <a:t>each warehouse to customer</a:t>
            </a:r>
          </a:p>
        </p:txBody>
      </p:sp>
      <p:sp>
        <p:nvSpPr>
          <p:cNvPr id="18" name="Rounded Rectangle 17"/>
          <p:cNvSpPr/>
          <p:nvPr/>
        </p:nvSpPr>
        <p:spPr>
          <a:xfrm>
            <a:off x="621792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737360"/>
            <a:ext cx="1600200" cy="228600"/>
          </a:xfrm>
          <a:prstGeom prst="rect">
            <a:avLst/>
          </a:prstGeom>
          <a:noFill/>
        </p:spPr>
        <p:txBody>
          <a:bodyPr wrap="square">
            <a:spAutoFit/>
          </a:bodyPr>
          <a:lstStyle/>
          <a:p>
            <a:pPr algn="ctr">
              <a:defRPr sz="900" b="1">
                <a:solidFill>
                  <a:srgbClr val="818CF8"/>
                </a:solidFill>
                <a:latin typeface="Calibri"/>
              </a:defRPr>
            </a:pPr>
            <a:r>
              <a:t>STEP 4</a:t>
            </a:r>
          </a:p>
        </p:txBody>
      </p:sp>
      <p:sp>
        <p:nvSpPr>
          <p:cNvPr id="20" name="TextBox 19"/>
          <p:cNvSpPr txBox="1"/>
          <p:nvPr/>
        </p:nvSpPr>
        <p:spPr>
          <a:xfrm>
            <a:off x="6309360" y="2011680"/>
            <a:ext cx="1600200" cy="640080"/>
          </a:xfrm>
          <a:prstGeom prst="rect">
            <a:avLst/>
          </a:prstGeom>
          <a:noFill/>
        </p:spPr>
        <p:txBody>
          <a:bodyPr wrap="square">
            <a:spAutoFit/>
          </a:bodyPr>
          <a:lstStyle/>
          <a:p>
            <a:pPr algn="ctr">
              <a:defRPr sz="1400" b="1">
                <a:solidFill>
                  <a:srgbClr val="FFFFFF"/>
                </a:solidFill>
                <a:latin typeface="Calibri"/>
              </a:defRPr>
            </a:pPr>
            <a:r>
              <a:t>Score</a:t>
            </a:r>
            <a:br/>
            <a:r>
              <a:t>Warehouses</a:t>
            </a:r>
          </a:p>
        </p:txBody>
      </p:sp>
      <p:sp>
        <p:nvSpPr>
          <p:cNvPr id="21" name="TextBox 20"/>
          <p:cNvSpPr txBox="1"/>
          <p:nvPr/>
        </p:nvSpPr>
        <p:spPr>
          <a:xfrm>
            <a:off x="6309360" y="2834640"/>
            <a:ext cx="1600200" cy="822960"/>
          </a:xfrm>
          <a:prstGeom prst="rect">
            <a:avLst/>
          </a:prstGeom>
          <a:noFill/>
        </p:spPr>
        <p:txBody>
          <a:bodyPr wrap="square">
            <a:spAutoFit/>
          </a:bodyPr>
          <a:lstStyle/>
          <a:p>
            <a:pPr algn="ctr">
              <a:defRPr sz="1100" b="0">
                <a:solidFill>
                  <a:srgbClr val="94A3B8"/>
                </a:solidFill>
                <a:latin typeface="Calibri"/>
              </a:defRPr>
            </a:pPr>
            <a:r>
              <a:t>Cost function: distance ×</a:t>
            </a:r>
            <a:br/>
            <a:r>
              <a:t>inventory × capacity</a:t>
            </a:r>
          </a:p>
        </p:txBody>
      </p:sp>
      <p:sp>
        <p:nvSpPr>
          <p:cNvPr id="22" name="Rounded Rectangle 21"/>
          <p:cNvSpPr/>
          <p:nvPr/>
        </p:nvSpPr>
        <p:spPr>
          <a:xfrm>
            <a:off x="813816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1737360"/>
            <a:ext cx="1600200" cy="228600"/>
          </a:xfrm>
          <a:prstGeom prst="rect">
            <a:avLst/>
          </a:prstGeom>
          <a:noFill/>
        </p:spPr>
        <p:txBody>
          <a:bodyPr wrap="square">
            <a:spAutoFit/>
          </a:bodyPr>
          <a:lstStyle/>
          <a:p>
            <a:pPr algn="ctr">
              <a:defRPr sz="900" b="1">
                <a:solidFill>
                  <a:srgbClr val="818CF8"/>
                </a:solidFill>
                <a:latin typeface="Calibri"/>
              </a:defRPr>
            </a:pPr>
            <a:r>
              <a:t>STEP 5</a:t>
            </a:r>
          </a:p>
        </p:txBody>
      </p:sp>
      <p:sp>
        <p:nvSpPr>
          <p:cNvPr id="24" name="TextBox 23"/>
          <p:cNvSpPr txBox="1"/>
          <p:nvPr/>
        </p:nvSpPr>
        <p:spPr>
          <a:xfrm>
            <a:off x="8229600" y="2011680"/>
            <a:ext cx="1600200" cy="640080"/>
          </a:xfrm>
          <a:prstGeom prst="rect">
            <a:avLst/>
          </a:prstGeom>
          <a:noFill/>
        </p:spPr>
        <p:txBody>
          <a:bodyPr wrap="square">
            <a:spAutoFit/>
          </a:bodyPr>
          <a:lstStyle/>
          <a:p>
            <a:pPr algn="ctr">
              <a:defRPr sz="1400" b="1">
                <a:solidFill>
                  <a:srgbClr val="FFFFFF"/>
                </a:solidFill>
                <a:latin typeface="Calibri"/>
              </a:defRPr>
            </a:pPr>
            <a:r>
              <a:t>Multi-WH</a:t>
            </a:r>
            <a:br/>
            <a:r>
              <a:t>Allocation</a:t>
            </a:r>
          </a:p>
        </p:txBody>
      </p:sp>
      <p:sp>
        <p:nvSpPr>
          <p:cNvPr id="25" name="TextBox 24"/>
          <p:cNvSpPr txBox="1"/>
          <p:nvPr/>
        </p:nvSpPr>
        <p:spPr>
          <a:xfrm>
            <a:off x="8229600" y="2834640"/>
            <a:ext cx="1600200" cy="822960"/>
          </a:xfrm>
          <a:prstGeom prst="rect">
            <a:avLst/>
          </a:prstGeom>
          <a:noFill/>
        </p:spPr>
        <p:txBody>
          <a:bodyPr wrap="square">
            <a:spAutoFit/>
          </a:bodyPr>
          <a:lstStyle/>
          <a:p>
            <a:pPr algn="ctr">
              <a:defRPr sz="1100" b="0">
                <a:solidFill>
                  <a:srgbClr val="94A3B8"/>
                </a:solidFill>
                <a:latin typeface="Calibri"/>
              </a:defRPr>
            </a:pPr>
            <a:r>
              <a:t>Split order across</a:t>
            </a:r>
            <a:br/>
            <a:r>
              <a:t>multiple warehouses</a:t>
            </a:r>
          </a:p>
        </p:txBody>
      </p:sp>
      <p:sp>
        <p:nvSpPr>
          <p:cNvPr id="26" name="Rounded Rectangle 25"/>
          <p:cNvSpPr/>
          <p:nvPr/>
        </p:nvSpPr>
        <p:spPr>
          <a:xfrm>
            <a:off x="10058400" y="1645920"/>
            <a:ext cx="1783080" cy="228600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40" y="1737360"/>
            <a:ext cx="1600200" cy="228600"/>
          </a:xfrm>
          <a:prstGeom prst="rect">
            <a:avLst/>
          </a:prstGeom>
          <a:noFill/>
        </p:spPr>
        <p:txBody>
          <a:bodyPr wrap="square">
            <a:spAutoFit/>
          </a:bodyPr>
          <a:lstStyle/>
          <a:p>
            <a:pPr algn="ctr">
              <a:defRPr sz="900" b="1">
                <a:solidFill>
                  <a:srgbClr val="818CF8"/>
                </a:solidFill>
                <a:latin typeface="Calibri"/>
              </a:defRPr>
            </a:pPr>
            <a:r>
              <a:t>STEP 6</a:t>
            </a:r>
          </a:p>
        </p:txBody>
      </p:sp>
      <p:sp>
        <p:nvSpPr>
          <p:cNvPr id="28" name="TextBox 27"/>
          <p:cNvSpPr txBox="1"/>
          <p:nvPr/>
        </p:nvSpPr>
        <p:spPr>
          <a:xfrm>
            <a:off x="10149840" y="2011680"/>
            <a:ext cx="1600200" cy="640080"/>
          </a:xfrm>
          <a:prstGeom prst="rect">
            <a:avLst/>
          </a:prstGeom>
          <a:noFill/>
        </p:spPr>
        <p:txBody>
          <a:bodyPr wrap="square">
            <a:spAutoFit/>
          </a:bodyPr>
          <a:lstStyle/>
          <a:p>
            <a:pPr algn="ctr">
              <a:defRPr sz="1400" b="1">
                <a:solidFill>
                  <a:srgbClr val="FFFFFF"/>
                </a:solidFill>
                <a:latin typeface="Calibri"/>
              </a:defRPr>
            </a:pPr>
            <a:r>
              <a:t>Generate</a:t>
            </a:r>
            <a:br/>
            <a:r>
              <a:t>Shipments</a:t>
            </a:r>
          </a:p>
        </p:txBody>
      </p:sp>
      <p:sp>
        <p:nvSpPr>
          <p:cNvPr id="29" name="TextBox 28"/>
          <p:cNvSpPr txBox="1"/>
          <p:nvPr/>
        </p:nvSpPr>
        <p:spPr>
          <a:xfrm>
            <a:off x="10149840" y="2834640"/>
            <a:ext cx="1600200" cy="822960"/>
          </a:xfrm>
          <a:prstGeom prst="rect">
            <a:avLst/>
          </a:prstGeom>
          <a:noFill/>
        </p:spPr>
        <p:txBody>
          <a:bodyPr wrap="square">
            <a:spAutoFit/>
          </a:bodyPr>
          <a:lstStyle/>
          <a:p>
            <a:pPr algn="ctr">
              <a:defRPr sz="1100" b="0">
                <a:solidFill>
                  <a:srgbClr val="94A3B8"/>
                </a:solidFill>
                <a:latin typeface="Calibri"/>
              </a:defRPr>
            </a:pPr>
            <a:r>
              <a:t>Create shipments &amp;</a:t>
            </a:r>
            <a:br/>
            <a:r>
              <a:t>calculate cost</a:t>
            </a:r>
          </a:p>
        </p:txBody>
      </p:sp>
      <p:sp>
        <p:nvSpPr>
          <p:cNvPr id="30" name="Rounded Rectangle 29"/>
          <p:cNvSpPr/>
          <p:nvPr/>
        </p:nvSpPr>
        <p:spPr>
          <a:xfrm>
            <a:off x="731520" y="4206240"/>
            <a:ext cx="10698480" cy="2194560"/>
          </a:xfrm>
          <a:prstGeom prst="roundRect">
            <a:avLst/>
          </a:prstGeom>
          <a:solidFill>
            <a:srgbClr val="131A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297680"/>
            <a:ext cx="4572000" cy="274320"/>
          </a:xfrm>
          <a:prstGeom prst="rect">
            <a:avLst/>
          </a:prstGeom>
          <a:noFill/>
        </p:spPr>
        <p:txBody>
          <a:bodyPr wrap="square">
            <a:spAutoFit/>
          </a:bodyPr>
          <a:lstStyle/>
          <a:p>
            <a:pPr algn="l">
              <a:defRPr sz="1100" b="1">
                <a:solidFill>
                  <a:srgbClr val="818CF8"/>
                </a:solidFill>
                <a:latin typeface="Calibri"/>
              </a:defRPr>
            </a:pPr>
            <a:r>
              <a:t>MULTI-WAREHOUSE ALLOCATION EXAMPLE</a:t>
            </a:r>
          </a:p>
        </p:txBody>
      </p:sp>
      <p:sp>
        <p:nvSpPr>
          <p:cNvPr id="32" name="TextBox 31"/>
          <p:cNvSpPr txBox="1"/>
          <p:nvPr/>
        </p:nvSpPr>
        <p:spPr>
          <a:xfrm>
            <a:off x="1097280" y="4663440"/>
            <a:ext cx="10058400" cy="1645920"/>
          </a:xfrm>
          <a:prstGeom prst="rect">
            <a:avLst/>
          </a:prstGeom>
          <a:noFill/>
        </p:spPr>
        <p:txBody>
          <a:bodyPr wrap="square">
            <a:spAutoFit/>
          </a:bodyPr>
          <a:lstStyle/>
          <a:p>
            <a:pPr>
              <a:spcAft>
                <a:spcPts val="400"/>
              </a:spcAft>
              <a:defRPr sz="1300">
                <a:solidFill>
                  <a:srgbClr val="E2E8F0"/>
                </a:solidFill>
                <a:latin typeface="Calibri"/>
              </a:defRPr>
            </a:pPr>
            <a:r>
              <a:t>Required: 10 units  ·  Customer Location: Jaipur (26.91°N, 75.78°E)</a:t>
            </a:r>
          </a:p>
          <a:p>
            <a:pPr>
              <a:spcAft>
                <a:spcPts val="400"/>
              </a:spcAft>
              <a:defRPr sz="1300">
                <a:solidFill>
                  <a:srgbClr val="E2E8F0"/>
                </a:solidFill>
                <a:latin typeface="Calibri"/>
              </a:defRPr>
            </a:pPr>
          </a:p>
          <a:p>
            <a:pPr>
              <a:spcAft>
                <a:spcPts val="400"/>
              </a:spcAft>
              <a:defRPr sz="1300">
                <a:solidFill>
                  <a:srgbClr val="E2E8F0"/>
                </a:solidFill>
                <a:latin typeface="Calibri"/>
              </a:defRPr>
            </a:pPr>
            <a:r>
              <a:t>Warehouse A  (Mumbai, 8.2 km)    →  Available: 4 units  →  Allocate: 4</a:t>
            </a:r>
          </a:p>
          <a:p>
            <a:pPr>
              <a:spcAft>
                <a:spcPts val="400"/>
              </a:spcAft>
              <a:defRPr sz="1300">
                <a:solidFill>
                  <a:srgbClr val="E2E8F0"/>
                </a:solidFill>
                <a:latin typeface="Calibri"/>
              </a:defRPr>
            </a:pPr>
            <a:r>
              <a:t>Warehouse B  (Bangalore, 12.5 km) →  Available: 6 units  →  Allocate: 6</a:t>
            </a:r>
          </a:p>
          <a:p>
            <a:pPr>
              <a:spcAft>
                <a:spcPts val="400"/>
              </a:spcAft>
              <a:defRPr sz="1300">
                <a:solidFill>
                  <a:srgbClr val="E2E8F0"/>
                </a:solidFill>
                <a:latin typeface="Calibri"/>
              </a:defRPr>
            </a:pPr>
          </a:p>
          <a:p>
            <a:pPr>
              <a:spcAft>
                <a:spcPts val="400"/>
              </a:spcAft>
              <a:defRPr sz="1300">
                <a:solidFill>
                  <a:srgbClr val="E2E8F0"/>
                </a:solidFill>
                <a:latin typeface="Calibri"/>
              </a:defRPr>
            </a:pPr>
            <a:r>
              <a:t>Result: 2 separate shipments generated  ·  Total distance: 20.7 km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1 — CORE</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Database Schema &amp; Control Tower UI Foundation</a:t>
            </a:r>
          </a:p>
        </p:txBody>
      </p:sp>
      <p:sp>
        <p:nvSpPr>
          <p:cNvPr id="5" name="Rounded Rectangle 4"/>
          <p:cNvSpPr/>
          <p:nvPr/>
        </p:nvSpPr>
        <p:spPr>
          <a:xfrm>
            <a:off x="731520" y="1371600"/>
            <a:ext cx="5029200" cy="493776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572000" cy="274320"/>
          </a:xfrm>
          <a:prstGeom prst="rect">
            <a:avLst/>
          </a:prstGeom>
          <a:noFill/>
        </p:spPr>
        <p:txBody>
          <a:bodyPr wrap="square">
            <a:spAutoFit/>
          </a:bodyPr>
          <a:lstStyle/>
          <a:p>
            <a:pPr algn="l">
              <a:defRPr sz="1200" b="1">
                <a:solidFill>
                  <a:srgbClr val="818CF8"/>
                </a:solidFill>
                <a:latin typeface="Calibri"/>
              </a:defRPr>
            </a:pPr>
            <a:r>
              <a:t>DATABASE SCHEMA (PostgreSQL)</a:t>
            </a:r>
          </a:p>
        </p:txBody>
      </p:sp>
      <p:sp>
        <p:nvSpPr>
          <p:cNvPr id="7" name="TextBox 6"/>
          <p:cNvSpPr txBox="1"/>
          <p:nvPr/>
        </p:nvSpPr>
        <p:spPr>
          <a:xfrm>
            <a:off x="1097280" y="1828800"/>
            <a:ext cx="4572000" cy="4114800"/>
          </a:xfrm>
          <a:prstGeom prst="rect">
            <a:avLst/>
          </a:prstGeom>
          <a:noFill/>
        </p:spPr>
        <p:txBody>
          <a:bodyPr wrap="square">
            <a:spAutoFit/>
          </a:bodyPr>
          <a:lstStyle/>
          <a:p>
            <a:pPr>
              <a:spcAft>
                <a:spcPts val="800"/>
              </a:spcAft>
              <a:defRPr sz="1200">
                <a:solidFill>
                  <a:srgbClr val="94A3B8"/>
                </a:solidFill>
                <a:latin typeface="Calibri"/>
              </a:defRPr>
            </a:pPr>
            <a:r>
              <a:t>users                    – Customer/Host accounts, roles</a:t>
            </a:r>
          </a:p>
          <a:p>
            <a:pPr>
              <a:spcAft>
                <a:spcPts val="800"/>
              </a:spcAft>
              <a:defRPr sz="1200">
                <a:solidFill>
                  <a:srgbClr val="94A3B8"/>
                </a:solidFill>
                <a:latin typeface="Calibri"/>
              </a:defRPr>
            </a:pPr>
            <a:r>
              <a:t>products                 – SKU, name, price, category</a:t>
            </a:r>
          </a:p>
          <a:p>
            <a:pPr>
              <a:spcAft>
                <a:spcPts val="800"/>
              </a:spcAft>
              <a:defRPr sz="1200">
                <a:solidFill>
                  <a:srgbClr val="94A3B8"/>
                </a:solidFill>
                <a:latin typeface="Calibri"/>
              </a:defRPr>
            </a:pPr>
            <a:r>
              <a:t>warehouses               – Name, city, lat/lng, capacity</a:t>
            </a:r>
          </a:p>
          <a:p>
            <a:pPr>
              <a:spcAft>
                <a:spcPts val="800"/>
              </a:spcAft>
              <a:defRPr sz="1200">
                <a:solidFill>
                  <a:srgbClr val="94A3B8"/>
                </a:solidFill>
                <a:latin typeface="Calibri"/>
              </a:defRPr>
            </a:pPr>
            <a:r>
              <a:t>warehouse_inventory      – Per-warehouse per-SKU stock</a:t>
            </a:r>
          </a:p>
          <a:p>
            <a:pPr>
              <a:spcAft>
                <a:spcPts val="800"/>
              </a:spcAft>
              <a:defRPr sz="1200">
                <a:solidFill>
                  <a:srgbClr val="94A3B8"/>
                </a:solidFill>
                <a:latin typeface="Calibri"/>
              </a:defRPr>
            </a:pPr>
            <a:r>
              <a:t>orders                   – Customer ID, status, total, address</a:t>
            </a:r>
          </a:p>
          <a:p>
            <a:pPr>
              <a:spcAft>
                <a:spcPts val="800"/>
              </a:spcAft>
              <a:defRPr sz="1200">
                <a:solidFill>
                  <a:srgbClr val="94A3B8"/>
                </a:solidFill>
                <a:latin typeface="Calibri"/>
              </a:defRPr>
            </a:pPr>
            <a:r>
              <a:t>order_items              – Order → Product → quantity → price</a:t>
            </a:r>
          </a:p>
          <a:p>
            <a:pPr>
              <a:spcAft>
                <a:spcPts val="800"/>
              </a:spcAft>
              <a:defRPr sz="1200">
                <a:solidFill>
                  <a:srgbClr val="94A3B8"/>
                </a:solidFill>
                <a:latin typeface="Calibri"/>
              </a:defRPr>
            </a:pPr>
            <a:r>
              <a:t>shipments                – Order → Warehouse → tracking</a:t>
            </a:r>
          </a:p>
          <a:p>
            <a:pPr>
              <a:spcAft>
                <a:spcPts val="800"/>
              </a:spcAft>
              <a:defRPr sz="1200">
                <a:solidFill>
                  <a:srgbClr val="94A3B8"/>
                </a:solidFill>
                <a:latin typeface="Calibri"/>
              </a:defRPr>
            </a:pPr>
            <a:r>
              <a:t>shipment_items           – Shipment → SKU → quantity</a:t>
            </a:r>
          </a:p>
          <a:p>
            <a:pPr>
              <a:spcAft>
                <a:spcPts val="800"/>
              </a:spcAft>
              <a:defRPr sz="1200">
                <a:solidFill>
                  <a:srgbClr val="94A3B8"/>
                </a:solidFill>
                <a:latin typeface="Calibri"/>
              </a:defRPr>
            </a:pPr>
            <a:r>
              <a:t>routes                   – Order → GeoJSON, distance, cost</a:t>
            </a:r>
          </a:p>
          <a:p>
            <a:pPr>
              <a:spcAft>
                <a:spcPts val="800"/>
              </a:spcAft>
              <a:defRPr sz="1200">
                <a:solidFill>
                  <a:srgbClr val="94A3B8"/>
                </a:solidFill>
                <a:latin typeface="Calibri"/>
              </a:defRPr>
            </a:pPr>
            <a:r>
              <a:t>inventory_movements      – Audit trail: type, qty, timestamp</a:t>
            </a:r>
          </a:p>
        </p:txBody>
      </p:sp>
      <p:sp>
        <p:nvSpPr>
          <p:cNvPr id="8" name="Rounded Rectangle 7"/>
          <p:cNvSpPr/>
          <p:nvPr/>
        </p:nvSpPr>
        <p:spPr>
          <a:xfrm>
            <a:off x="6035040" y="1371600"/>
            <a:ext cx="5486400" cy="493776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463040"/>
            <a:ext cx="4572000" cy="274320"/>
          </a:xfrm>
          <a:prstGeom prst="rect">
            <a:avLst/>
          </a:prstGeom>
          <a:noFill/>
        </p:spPr>
        <p:txBody>
          <a:bodyPr wrap="square">
            <a:spAutoFit/>
          </a:bodyPr>
          <a:lstStyle/>
          <a:p>
            <a:pPr algn="l">
              <a:defRPr sz="1200" b="1">
                <a:solidFill>
                  <a:srgbClr val="6366F1"/>
                </a:solidFill>
                <a:latin typeface="Calibri"/>
              </a:defRPr>
            </a:pPr>
            <a:r>
              <a:t>CONTROL TOWER UI FOUNDATION</a:t>
            </a:r>
          </a:p>
        </p:txBody>
      </p:sp>
      <p:pic>
        <p:nvPicPr>
          <p:cNvPr id="10" name="Picture 9" descr="ppt_control_tower.png"/>
          <p:cNvPicPr>
            <a:picLocks noChangeAspect="1"/>
          </p:cNvPicPr>
          <p:nvPr/>
        </p:nvPicPr>
        <p:blipFill>
          <a:blip r:embed="rId2"/>
          <a:stretch>
            <a:fillRect/>
          </a:stretch>
        </p:blipFill>
        <p:spPr>
          <a:xfrm>
            <a:off x="6217920" y="1828800"/>
            <a:ext cx="5120640" cy="2595880"/>
          </a:xfrm>
          <a:prstGeom prst="rect">
            <a:avLst/>
          </a:prstGeom>
        </p:spPr>
      </p:pic>
      <p:sp>
        <p:nvSpPr>
          <p:cNvPr id="11" name="TextBox 10"/>
          <p:cNvSpPr txBox="1"/>
          <p:nvPr/>
        </p:nvSpPr>
        <p:spPr>
          <a:xfrm>
            <a:off x="6217920" y="4846320"/>
            <a:ext cx="5120640" cy="1371600"/>
          </a:xfrm>
          <a:prstGeom prst="rect">
            <a:avLst/>
          </a:prstGeom>
          <a:noFill/>
        </p:spPr>
        <p:txBody>
          <a:bodyPr wrap="square">
            <a:spAutoFit/>
          </a:bodyPr>
          <a:lstStyle/>
          <a:p>
            <a:pPr>
              <a:spcAft>
                <a:spcPts val="400"/>
              </a:spcAft>
              <a:defRPr sz="1100">
                <a:solidFill>
                  <a:srgbClr val="94A3B8"/>
                </a:solidFill>
                <a:latin typeface="Calibri"/>
              </a:defRPr>
            </a:pPr>
            <a:r>
              <a:t>✦ Enterprise dark navy design system</a:t>
            </a:r>
          </a:p>
          <a:p>
            <a:pPr>
              <a:spcAft>
                <a:spcPts val="400"/>
              </a:spcAft>
              <a:defRPr sz="1100">
                <a:solidFill>
                  <a:srgbClr val="94A3B8"/>
                </a:solidFill>
                <a:latin typeface="Calibri"/>
              </a:defRPr>
            </a:pPr>
            <a:r>
              <a:t>✦ MapLibre GL interactive map + CARTO basemap</a:t>
            </a:r>
          </a:p>
          <a:p>
            <a:pPr>
              <a:spcAft>
                <a:spcPts val="400"/>
              </a:spcAft>
              <a:defRPr sz="1100">
                <a:solidFill>
                  <a:srgbClr val="94A3B8"/>
                </a:solidFill>
                <a:latin typeface="Calibri"/>
              </a:defRPr>
            </a:pPr>
            <a:r>
              <a:t>✦ 4 real-time KPI cards</a:t>
            </a:r>
          </a:p>
          <a:p>
            <a:pPr>
              <a:spcAft>
                <a:spcPts val="400"/>
              </a:spcAft>
              <a:defRPr sz="1100">
                <a:solidFill>
                  <a:srgbClr val="94A3B8"/>
                </a:solidFill>
                <a:latin typeface="Calibri"/>
              </a:defRPr>
            </a:pPr>
            <a:r>
              <a:t>✦ Sidebar navigation + API health indicator</a:t>
            </a:r>
          </a:p>
          <a:p>
            <a:pPr>
              <a:spcAft>
                <a:spcPts val="400"/>
              </a:spcAft>
              <a:defRPr sz="1100">
                <a:solidFill>
                  <a:srgbClr val="94A3B8"/>
                </a:solidFill>
                <a:latin typeface="Calibri"/>
              </a:defRPr>
            </a:pPr>
            <a:r>
              <a:t>✦ Frontend architecture &amp; reusable components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2 — BACKEND</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Checkout Orchestration &amp; Redis Concurrency</a:t>
            </a:r>
          </a:p>
        </p:txBody>
      </p:sp>
      <p:sp>
        <p:nvSpPr>
          <p:cNvPr id="5" name="TextBox 4"/>
          <p:cNvSpPr txBox="1"/>
          <p:nvPr/>
        </p:nvSpPr>
        <p:spPr>
          <a:xfrm>
            <a:off x="914400" y="1188720"/>
            <a:ext cx="7315200" cy="274320"/>
          </a:xfrm>
          <a:prstGeom prst="rect">
            <a:avLst/>
          </a:prstGeom>
          <a:noFill/>
        </p:spPr>
        <p:txBody>
          <a:bodyPr wrap="square">
            <a:spAutoFit/>
          </a:bodyPr>
          <a:lstStyle/>
          <a:p>
            <a:pPr algn="l">
              <a:defRPr sz="1300" b="0">
                <a:solidFill>
                  <a:srgbClr val="64748B"/>
                </a:solidFill>
                <a:latin typeface="Calibri"/>
              </a:defRPr>
            </a:pPr>
            <a:r>
              <a:t>Member 2 — API, Logistics Orchestration &amp; Checkout Lead</a:t>
            </a:r>
          </a:p>
        </p:txBody>
      </p:sp>
      <p:sp>
        <p:nvSpPr>
          <p:cNvPr id="6" name="Rounded Rectangle 5"/>
          <p:cNvSpPr/>
          <p:nvPr/>
        </p:nvSpPr>
        <p:spPr>
          <a:xfrm>
            <a:off x="731520" y="1554480"/>
            <a:ext cx="5303520" cy="47548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572000" cy="274320"/>
          </a:xfrm>
          <a:prstGeom prst="rect">
            <a:avLst/>
          </a:prstGeom>
          <a:noFill/>
        </p:spPr>
        <p:txBody>
          <a:bodyPr wrap="square">
            <a:spAutoFit/>
          </a:bodyPr>
          <a:lstStyle/>
          <a:p>
            <a:pPr algn="l">
              <a:defRPr sz="1100" b="1">
                <a:solidFill>
                  <a:srgbClr val="34D399"/>
                </a:solidFill>
                <a:latin typeface="Calibri"/>
              </a:defRPr>
            </a:pPr>
            <a:r>
              <a:t>CHECKOUT FLOW (SINGLE ACID TRANSACTION)</a:t>
            </a:r>
          </a:p>
        </p:txBody>
      </p:sp>
      <p:sp>
        <p:nvSpPr>
          <p:cNvPr id="8" name="TextBox 7"/>
          <p:cNvSpPr txBox="1"/>
          <p:nvPr/>
        </p:nvSpPr>
        <p:spPr>
          <a:xfrm>
            <a:off x="1097280" y="2011680"/>
            <a:ext cx="4754880" cy="3474720"/>
          </a:xfrm>
          <a:prstGeom prst="rect">
            <a:avLst/>
          </a:prstGeom>
          <a:noFill/>
        </p:spPr>
        <p:txBody>
          <a:bodyPr wrap="square">
            <a:spAutoFit/>
          </a:bodyPr>
          <a:lstStyle/>
          <a:p>
            <a:pPr>
              <a:spcAft>
                <a:spcPts val="700"/>
              </a:spcAft>
              <a:defRPr sz="1200">
                <a:solidFill>
                  <a:srgbClr val="E2E8F0"/>
                </a:solidFill>
                <a:latin typeface="Calibri"/>
              </a:defRPr>
            </a:pPr>
            <a:r>
              <a:t>1.   Validate Customer</a:t>
            </a:r>
          </a:p>
          <a:p>
            <a:pPr>
              <a:spcAft>
                <a:spcPts val="700"/>
              </a:spcAft>
              <a:defRPr sz="1200">
                <a:solidFill>
                  <a:srgbClr val="E2E8F0"/>
                </a:solidFill>
                <a:latin typeface="Calibri"/>
              </a:defRPr>
            </a:pPr>
            <a:r>
              <a:t>2.   Validate Cart</a:t>
            </a:r>
          </a:p>
          <a:p>
            <a:pPr>
              <a:spcAft>
                <a:spcPts val="700"/>
              </a:spcAft>
              <a:defRPr sz="1200">
                <a:solidFill>
                  <a:srgbClr val="E2E8F0"/>
                </a:solidFill>
                <a:latin typeface="Calibri"/>
              </a:defRPr>
            </a:pPr>
            <a:r>
              <a:t>3.   Read Current Inventory</a:t>
            </a:r>
          </a:p>
          <a:p>
            <a:pPr>
              <a:spcAft>
                <a:spcPts val="700"/>
              </a:spcAft>
              <a:defRPr sz="1200">
                <a:solidFill>
                  <a:srgbClr val="E2E8F0"/>
                </a:solidFill>
                <a:latin typeface="Calibri"/>
              </a:defRPr>
            </a:pPr>
            <a:r>
              <a:t>4.   Acquire Redis Lock (per-SKU)</a:t>
            </a:r>
          </a:p>
          <a:p>
            <a:pPr>
              <a:spcAft>
                <a:spcPts val="700"/>
              </a:spcAft>
              <a:defRPr sz="1200">
                <a:solidFill>
                  <a:srgbClr val="E2E8F0"/>
                </a:solidFill>
                <a:latin typeface="Calibri"/>
              </a:defRPr>
            </a:pPr>
            <a:r>
              <a:t>5.   Check Availability</a:t>
            </a:r>
          </a:p>
          <a:p>
            <a:pPr>
              <a:spcAft>
                <a:spcPts val="700"/>
              </a:spcAft>
              <a:defRPr sz="1200">
                <a:solidFill>
                  <a:srgbClr val="E2E8F0"/>
                </a:solidFill>
                <a:latin typeface="Calibri"/>
              </a:defRPr>
            </a:pPr>
            <a:r>
              <a:t>6.   Run Routing Algorithm  [calls M1]</a:t>
            </a:r>
          </a:p>
          <a:p>
            <a:pPr>
              <a:spcAft>
                <a:spcPts val="700"/>
              </a:spcAft>
              <a:defRPr sz="1200">
                <a:solidFill>
                  <a:srgbClr val="E2E8F0"/>
                </a:solidFill>
                <a:latin typeface="Calibri"/>
              </a:defRPr>
            </a:pPr>
            <a:r>
              <a:t>7.   Allocate Inventory (-avail, +reserved)</a:t>
            </a:r>
          </a:p>
          <a:p>
            <a:pPr>
              <a:spcAft>
                <a:spcPts val="700"/>
              </a:spcAft>
              <a:defRPr sz="1200">
                <a:solidFill>
                  <a:srgbClr val="E2E8F0"/>
                </a:solidFill>
                <a:latin typeface="Calibri"/>
              </a:defRPr>
            </a:pPr>
            <a:r>
              <a:t>8.   Create Order + Order Items</a:t>
            </a:r>
          </a:p>
          <a:p>
            <a:pPr>
              <a:spcAft>
                <a:spcPts val="700"/>
              </a:spcAft>
              <a:defRPr sz="1200">
                <a:solidFill>
                  <a:srgbClr val="E2E8F0"/>
                </a:solidFill>
                <a:latin typeface="Calibri"/>
              </a:defRPr>
            </a:pPr>
            <a:r>
              <a:t>9.   Create Shipments + Shipment Items</a:t>
            </a:r>
          </a:p>
          <a:p>
            <a:pPr>
              <a:spcAft>
                <a:spcPts val="700"/>
              </a:spcAft>
              <a:defRPr sz="1200">
                <a:solidFill>
                  <a:srgbClr val="E2E8F0"/>
                </a:solidFill>
                <a:latin typeface="Calibri"/>
              </a:defRPr>
            </a:pPr>
            <a:r>
              <a:t>10.  Generate Route GeoJSON</a:t>
            </a:r>
          </a:p>
          <a:p>
            <a:pPr>
              <a:spcAft>
                <a:spcPts val="700"/>
              </a:spcAft>
              <a:defRPr sz="1200">
                <a:solidFill>
                  <a:srgbClr val="E2E8F0"/>
                </a:solidFill>
                <a:latin typeface="Calibri"/>
              </a:defRPr>
            </a:pPr>
            <a:r>
              <a:t>11.  Calculate Delivery Cost</a:t>
            </a:r>
          </a:p>
          <a:p>
            <a:pPr>
              <a:spcAft>
                <a:spcPts val="700"/>
              </a:spcAft>
              <a:defRPr sz="1200">
                <a:solidFill>
                  <a:srgbClr val="E2E8F0"/>
                </a:solidFill>
                <a:latin typeface="Calibri"/>
              </a:defRPr>
            </a:pPr>
            <a:r>
              <a:t>12.  COMMIT Transaction</a:t>
            </a:r>
          </a:p>
        </p:txBody>
      </p:sp>
      <p:sp>
        <p:nvSpPr>
          <p:cNvPr id="9" name="TextBox 8"/>
          <p:cNvSpPr txBox="1"/>
          <p:nvPr/>
        </p:nvSpPr>
        <p:spPr>
          <a:xfrm>
            <a:off x="914400" y="5303520"/>
            <a:ext cx="5029200" cy="365760"/>
          </a:xfrm>
          <a:prstGeom prst="rect">
            <a:avLst/>
          </a:prstGeom>
          <a:noFill/>
        </p:spPr>
        <p:txBody>
          <a:bodyPr wrap="square">
            <a:spAutoFit/>
          </a:bodyPr>
          <a:lstStyle/>
          <a:p>
            <a:pPr algn="l">
              <a:defRPr sz="1100" b="1">
                <a:solidFill>
                  <a:srgbClr val="F87171"/>
                </a:solidFill>
                <a:latin typeface="Calibri"/>
              </a:defRPr>
            </a:pPr>
            <a:r>
              <a:t>ON FAILURE:  ROLLBACK → Release Locks → Return Error</a:t>
            </a:r>
          </a:p>
        </p:txBody>
      </p:sp>
      <p:sp>
        <p:nvSpPr>
          <p:cNvPr id="10" name="Rounded Rectangle 9"/>
          <p:cNvSpPr/>
          <p:nvPr/>
        </p:nvSpPr>
        <p:spPr>
          <a:xfrm>
            <a:off x="6309360" y="1554480"/>
            <a:ext cx="5303520" cy="475488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572000" cy="274320"/>
          </a:xfrm>
          <a:prstGeom prst="rect">
            <a:avLst/>
          </a:prstGeom>
          <a:noFill/>
        </p:spPr>
        <p:txBody>
          <a:bodyPr wrap="square">
            <a:spAutoFit/>
          </a:bodyPr>
          <a:lstStyle/>
          <a:p>
            <a:pPr algn="l">
              <a:defRPr sz="1100" b="1">
                <a:solidFill>
                  <a:srgbClr val="F87171"/>
                </a:solidFill>
                <a:latin typeface="Calibri"/>
              </a:defRPr>
            </a:pPr>
            <a:r>
              <a:t>REDIS CONCURRENCY PROTECTION</a:t>
            </a:r>
          </a:p>
        </p:txBody>
      </p:sp>
      <p:sp>
        <p:nvSpPr>
          <p:cNvPr id="12" name="TextBox 11"/>
          <p:cNvSpPr txBox="1"/>
          <p:nvPr/>
        </p:nvSpPr>
        <p:spPr>
          <a:xfrm>
            <a:off x="6675120" y="2011680"/>
            <a:ext cx="4754880" cy="4114800"/>
          </a:xfrm>
          <a:prstGeom prst="rect">
            <a:avLst/>
          </a:prstGeom>
          <a:noFill/>
        </p:spPr>
        <p:txBody>
          <a:bodyPr wrap="square">
            <a:spAutoFit/>
          </a:bodyPr>
          <a:lstStyle/>
          <a:p>
            <a:pPr>
              <a:spcAft>
                <a:spcPts val="500"/>
              </a:spcAft>
              <a:defRPr sz="1200">
                <a:solidFill>
                  <a:srgbClr val="94A3B8"/>
                </a:solidFill>
                <a:latin typeface="Calibri"/>
              </a:defRPr>
            </a:pPr>
            <a:r>
              <a:t>✦ Per-SKU distributed locks: lock:sku:&lt;ID&gt;</a:t>
            </a:r>
          </a:p>
          <a:p>
            <a:pPr>
              <a:spcAft>
                <a:spcPts val="500"/>
              </a:spcAft>
              <a:defRPr sz="1200">
                <a:solidFill>
                  <a:srgbClr val="94A3B8"/>
                </a:solidFill>
                <a:latin typeface="Calibri"/>
              </a:defRPr>
            </a:pPr>
            <a:r>
              <a:t>✦ Lock TTL prevents deadlocks</a:t>
            </a:r>
          </a:p>
          <a:p>
            <a:pPr>
              <a:spcAft>
                <a:spcPts val="500"/>
              </a:spcAft>
              <a:defRPr sz="1200">
                <a:solidFill>
                  <a:srgbClr val="94A3B8"/>
                </a:solidFill>
                <a:latin typeface="Calibri"/>
              </a:defRPr>
            </a:pPr>
            <a:r>
              <a:t>✦ Rate limiting: 30 req/min per IP</a:t>
            </a:r>
          </a:p>
          <a:p>
            <a:pPr>
              <a:spcAft>
                <a:spcPts val="500"/>
              </a:spcAft>
              <a:defRPr sz="1200">
                <a:solidFill>
                  <a:srgbClr val="94A3B8"/>
                </a:solidFill>
                <a:latin typeface="Calibri"/>
              </a:defRPr>
            </a:pPr>
            <a:r>
              <a:t>    (sliding window, configurable)</a:t>
            </a:r>
          </a:p>
          <a:p>
            <a:pPr>
              <a:spcAft>
                <a:spcPts val="500"/>
              </a:spcAft>
              <a:defRPr sz="1200">
                <a:solidFill>
                  <a:srgbClr val="94A3B8"/>
                </a:solidFill>
                <a:latin typeface="Calibri"/>
              </a:defRPr>
            </a:pPr>
            <a:r>
              <a:t>✦ Duplicate checkout prevention</a:t>
            </a:r>
          </a:p>
          <a:p>
            <a:pPr>
              <a:spcAft>
                <a:spcPts val="500"/>
              </a:spcAft>
              <a:defRPr sz="1200">
                <a:solidFill>
                  <a:srgbClr val="94A3B8"/>
                </a:solidFill>
                <a:latin typeface="Calibri"/>
              </a:defRPr>
            </a:pPr>
            <a:r>
              <a:t>✦ Idempotency keys</a:t>
            </a:r>
          </a:p>
          <a:p>
            <a:pPr>
              <a:spcAft>
                <a:spcPts val="500"/>
              </a:spcAft>
              <a:defRPr sz="1200">
                <a:solidFill>
                  <a:srgbClr val="94A3B8"/>
                </a:solidFill>
                <a:latin typeface="Calibri"/>
              </a:defRPr>
            </a:pPr>
            <a:r>
              <a:t>✦ Request validation &amp; input guards</a:t>
            </a:r>
          </a:p>
          <a:p>
            <a:pPr>
              <a:spcAft>
                <a:spcPts val="500"/>
              </a:spcAft>
              <a:defRPr sz="1200">
                <a:solidFill>
                  <a:srgbClr val="94A3B8"/>
                </a:solidFill>
                <a:latin typeface="Calibri"/>
              </a:defRPr>
            </a:pPr>
          </a:p>
          <a:p>
            <a:pPr>
              <a:spcAft>
                <a:spcPts val="500"/>
              </a:spcAft>
              <a:defRPr sz="1200">
                <a:solidFill>
                  <a:srgbClr val="94A3B8"/>
                </a:solidFill>
                <a:latin typeface="Calibri"/>
              </a:defRPr>
            </a:pPr>
            <a:r>
              <a:t>GUARANTEES:</a:t>
            </a:r>
          </a:p>
          <a:p>
            <a:pPr>
              <a:spcAft>
                <a:spcPts val="500"/>
              </a:spcAft>
              <a:defRPr sz="1200">
                <a:solidFill>
                  <a:srgbClr val="94A3B8"/>
                </a:solidFill>
                <a:latin typeface="Calibri"/>
              </a:defRPr>
            </a:pPr>
            <a:r>
              <a:t>  ✓ Zero overselling</a:t>
            </a:r>
          </a:p>
          <a:p>
            <a:pPr>
              <a:spcAft>
                <a:spcPts val="500"/>
              </a:spcAft>
              <a:defRPr sz="1200">
                <a:solidFill>
                  <a:srgbClr val="94A3B8"/>
                </a:solidFill>
                <a:latin typeface="Calibri"/>
              </a:defRPr>
            </a:pPr>
            <a:r>
              <a:t>  ✓ Zero negative inventory</a:t>
            </a:r>
          </a:p>
          <a:p>
            <a:pPr>
              <a:spcAft>
                <a:spcPts val="500"/>
              </a:spcAft>
              <a:defRPr sz="1200">
                <a:solidFill>
                  <a:srgbClr val="94A3B8"/>
                </a:solidFill>
                <a:latin typeface="Calibri"/>
              </a:defRPr>
            </a:pPr>
            <a:r>
              <a:t>  ✓ Zero duplicate orders</a:t>
            </a:r>
          </a:p>
          <a:p>
            <a:pPr>
              <a:spcAft>
                <a:spcPts val="500"/>
              </a:spcAft>
              <a:defRPr sz="1200">
                <a:solidFill>
                  <a:srgbClr val="94A3B8"/>
                </a:solidFill>
                <a:latin typeface="Calibri"/>
              </a:defRPr>
            </a:pPr>
          </a:p>
          <a:p>
            <a:pPr>
              <a:spcAft>
                <a:spcPts val="500"/>
              </a:spcAft>
              <a:defRPr sz="1200">
                <a:solidFill>
                  <a:srgbClr val="94A3B8"/>
                </a:solidFill>
                <a:latin typeface="Calibri"/>
              </a:defRPr>
            </a:pPr>
            <a:r>
              <a:t>BUILT-IN STRESS TEST:</a:t>
            </a:r>
          </a:p>
          <a:p>
            <a:pPr>
              <a:spcAft>
                <a:spcPts val="500"/>
              </a:spcAft>
              <a:defRPr sz="1200">
                <a:solidFill>
                  <a:srgbClr val="94A3B8"/>
                </a:solidFill>
                <a:latin typeface="Calibri"/>
              </a:defRPr>
            </a:pPr>
            <a:r>
              <a:t>  Flash-sale tool fires N concurrent</a:t>
            </a:r>
          </a:p>
          <a:p>
            <a:pPr>
              <a:spcAft>
                <a:spcPts val="500"/>
              </a:spcAft>
              <a:defRPr sz="1200">
                <a:solidFill>
                  <a:srgbClr val="94A3B8"/>
                </a:solidFill>
                <a:latin typeface="Calibri"/>
              </a:defRPr>
            </a:pPr>
            <a:r>
              <a:t>  checkout requests to prove safety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2 — BACKEND</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Gemini AI Explainability &amp; Order Simulator</a:t>
            </a:r>
          </a:p>
        </p:txBody>
      </p:sp>
      <p:sp>
        <p:nvSpPr>
          <p:cNvPr id="5" name="Rounded Rectangle 4"/>
          <p:cNvSpPr/>
          <p:nvPr/>
        </p:nvSpPr>
        <p:spPr>
          <a:xfrm>
            <a:off x="731520" y="1371600"/>
            <a:ext cx="5303520" cy="34747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572000" cy="274320"/>
          </a:xfrm>
          <a:prstGeom prst="rect">
            <a:avLst/>
          </a:prstGeom>
          <a:noFill/>
        </p:spPr>
        <p:txBody>
          <a:bodyPr wrap="square">
            <a:spAutoFit/>
          </a:bodyPr>
          <a:lstStyle/>
          <a:p>
            <a:pPr algn="l">
              <a:defRPr sz="1200" b="1">
                <a:solidFill>
                  <a:srgbClr val="818CF8"/>
                </a:solidFill>
                <a:latin typeface="Calibri"/>
              </a:defRPr>
            </a:pPr>
            <a:r>
              <a:t>GEMINI AI INTEGRATION</a:t>
            </a:r>
          </a:p>
        </p:txBody>
      </p:sp>
      <p:sp>
        <p:nvSpPr>
          <p:cNvPr id="7" name="TextBox 6"/>
          <p:cNvSpPr txBox="1"/>
          <p:nvPr/>
        </p:nvSpPr>
        <p:spPr>
          <a:xfrm>
            <a:off x="1097280" y="1828800"/>
            <a:ext cx="4754880" cy="2743200"/>
          </a:xfrm>
          <a:prstGeom prst="rect">
            <a:avLst/>
          </a:prstGeom>
          <a:noFill/>
        </p:spPr>
        <p:txBody>
          <a:bodyPr wrap="square">
            <a:spAutoFit/>
          </a:bodyPr>
          <a:lstStyle/>
          <a:p>
            <a:pPr>
              <a:spcAft>
                <a:spcPts val="500"/>
              </a:spcAft>
              <a:defRPr sz="1200">
                <a:solidFill>
                  <a:srgbClr val="94A3B8"/>
                </a:solidFill>
                <a:latin typeface="Calibri"/>
              </a:defRPr>
            </a:pPr>
            <a:r>
              <a:t>✦ Google Gemini API generates plain-language</a:t>
            </a:r>
          </a:p>
          <a:p>
            <a:pPr>
              <a:spcAft>
                <a:spcPts val="500"/>
              </a:spcAft>
              <a:defRPr sz="1200">
                <a:solidFill>
                  <a:srgbClr val="94A3B8"/>
                </a:solidFill>
                <a:latin typeface="Calibri"/>
              </a:defRPr>
            </a:pPr>
            <a:r>
              <a:t>  routing explanations</a:t>
            </a:r>
          </a:p>
          <a:p>
            <a:pPr>
              <a:spcAft>
                <a:spcPts val="500"/>
              </a:spcAft>
              <a:defRPr sz="1200">
                <a:solidFill>
                  <a:srgbClr val="94A3B8"/>
                </a:solidFill>
                <a:latin typeface="Calibri"/>
              </a:defRPr>
            </a:pPr>
            <a:r>
              <a:t>✦ Fully async — never blocks checkout path</a:t>
            </a:r>
          </a:p>
          <a:p>
            <a:pPr>
              <a:spcAft>
                <a:spcPts val="500"/>
              </a:spcAft>
              <a:defRPr sz="1200">
                <a:solidFill>
                  <a:srgbClr val="94A3B8"/>
                </a:solidFill>
                <a:latin typeface="Calibri"/>
              </a:defRPr>
            </a:pPr>
            <a:r>
              <a:t>✦ Host-only (customer never sees explanations)</a:t>
            </a:r>
          </a:p>
          <a:p>
            <a:pPr>
              <a:spcAft>
                <a:spcPts val="500"/>
              </a:spcAft>
              <a:defRPr sz="1200">
                <a:solidFill>
                  <a:srgbClr val="94A3B8"/>
                </a:solidFill>
                <a:latin typeface="Calibri"/>
              </a:defRPr>
            </a:pPr>
          </a:p>
          <a:p>
            <a:pPr>
              <a:spcAft>
                <a:spcPts val="500"/>
              </a:spcAft>
              <a:defRPr sz="1200">
                <a:solidFill>
                  <a:srgbClr val="94A3B8"/>
                </a:solidFill>
                <a:latin typeface="Calibri"/>
              </a:defRPr>
            </a:pPr>
            <a:r>
              <a:t>CIRCUIT BREAKER PATTERN:</a:t>
            </a:r>
          </a:p>
          <a:p>
            <a:pPr>
              <a:spcAft>
                <a:spcPts val="500"/>
              </a:spcAft>
              <a:defRPr sz="1200">
                <a:solidFill>
                  <a:srgbClr val="94A3B8"/>
                </a:solidFill>
                <a:latin typeface="Calibri"/>
              </a:defRPr>
            </a:pPr>
            <a:r>
              <a:t>  • 5 consecutive Gemini failures → circuit OPENS</a:t>
            </a:r>
          </a:p>
          <a:p>
            <a:pPr>
              <a:spcAft>
                <a:spcPts val="500"/>
              </a:spcAft>
              <a:defRPr sz="1200">
                <a:solidFill>
                  <a:srgbClr val="94A3B8"/>
                </a:solidFill>
                <a:latin typeface="Calibri"/>
              </a:defRPr>
            </a:pPr>
            <a:r>
              <a:t>  • Deterministic fallback activates automatically</a:t>
            </a:r>
          </a:p>
          <a:p>
            <a:pPr>
              <a:spcAft>
                <a:spcPts val="500"/>
              </a:spcAft>
              <a:defRPr sz="1200">
                <a:solidFill>
                  <a:srgbClr val="94A3B8"/>
                </a:solidFill>
                <a:latin typeface="Calibri"/>
              </a:defRPr>
            </a:pPr>
            <a:r>
              <a:t>  • 60-second cooldown, then retry (HALF_OPEN)</a:t>
            </a:r>
          </a:p>
          <a:p>
            <a:pPr>
              <a:spcAft>
                <a:spcPts val="500"/>
              </a:spcAft>
              <a:defRPr sz="1200">
                <a:solidFill>
                  <a:srgbClr val="94A3B8"/>
                </a:solidFill>
                <a:latin typeface="Calibri"/>
              </a:defRPr>
            </a:pPr>
          </a:p>
          <a:p>
            <a:pPr>
              <a:spcAft>
                <a:spcPts val="500"/>
              </a:spcAft>
              <a:defRPr sz="1200">
                <a:solidFill>
                  <a:srgbClr val="94A3B8"/>
                </a:solidFill>
                <a:latin typeface="Calibri"/>
              </a:defRPr>
            </a:pPr>
            <a:r>
              <a:t>AI EXPLAINS:</a:t>
            </a:r>
          </a:p>
          <a:p>
            <a:pPr>
              <a:spcAft>
                <a:spcPts val="500"/>
              </a:spcAft>
              <a:defRPr sz="1200">
                <a:solidFill>
                  <a:srgbClr val="94A3B8"/>
                </a:solidFill>
                <a:latin typeface="Calibri"/>
              </a:defRPr>
            </a:pPr>
            <a:r>
              <a:t>  • Why a warehouse was selected</a:t>
            </a:r>
          </a:p>
          <a:p>
            <a:pPr>
              <a:spcAft>
                <a:spcPts val="500"/>
              </a:spcAft>
              <a:defRPr sz="1200">
                <a:solidFill>
                  <a:srgbClr val="94A3B8"/>
                </a:solidFill>
                <a:latin typeface="Calibri"/>
              </a:defRPr>
            </a:pPr>
            <a:r>
              <a:t>  • Why an order was split across warehouses</a:t>
            </a:r>
          </a:p>
          <a:p>
            <a:pPr>
              <a:spcAft>
                <a:spcPts val="500"/>
              </a:spcAft>
              <a:defRPr sz="1200">
                <a:solidFill>
                  <a:srgbClr val="94A3B8"/>
                </a:solidFill>
                <a:latin typeface="Calibri"/>
              </a:defRPr>
            </a:pPr>
            <a:r>
              <a:t>  • Distance vs inventory tradeoffs</a:t>
            </a:r>
          </a:p>
        </p:txBody>
      </p:sp>
      <p:sp>
        <p:nvSpPr>
          <p:cNvPr id="8" name="Rounded Rectangle 7"/>
          <p:cNvSpPr/>
          <p:nvPr/>
        </p:nvSpPr>
        <p:spPr>
          <a:xfrm>
            <a:off x="6309360" y="1371600"/>
            <a:ext cx="5303520" cy="493776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572000" cy="274320"/>
          </a:xfrm>
          <a:prstGeom prst="rect">
            <a:avLst/>
          </a:prstGeom>
          <a:noFill/>
        </p:spPr>
        <p:txBody>
          <a:bodyPr wrap="square">
            <a:spAutoFit/>
          </a:bodyPr>
          <a:lstStyle/>
          <a:p>
            <a:pPr algn="l">
              <a:defRPr sz="1200" b="1">
                <a:solidFill>
                  <a:srgbClr val="FBBF24"/>
                </a:solidFill>
                <a:latin typeface="Calibri"/>
              </a:defRPr>
            </a:pPr>
            <a:r>
              <a:t>CUSTOMER ORDER SIMULATOR (Week 5)</a:t>
            </a:r>
          </a:p>
        </p:txBody>
      </p:sp>
      <p:pic>
        <p:nvPicPr>
          <p:cNvPr id="10" name="Picture 9" descr="ppt_user_order_simulator_cart.png"/>
          <p:cNvPicPr>
            <a:picLocks noChangeAspect="1"/>
          </p:cNvPicPr>
          <p:nvPr/>
        </p:nvPicPr>
        <p:blipFill>
          <a:blip r:embed="rId2"/>
          <a:stretch>
            <a:fillRect/>
          </a:stretch>
        </p:blipFill>
        <p:spPr>
          <a:xfrm>
            <a:off x="6400800" y="1828800"/>
            <a:ext cx="5029200" cy="3698230"/>
          </a:xfrm>
          <a:prstGeom prst="rect">
            <a:avLst/>
          </a:prstGeom>
        </p:spPr>
      </p:pic>
      <p:sp>
        <p:nvSpPr>
          <p:cNvPr id="11" name="TextBox 10"/>
          <p:cNvSpPr txBox="1"/>
          <p:nvPr/>
        </p:nvSpPr>
        <p:spPr>
          <a:xfrm>
            <a:off x="6400800" y="5029200"/>
            <a:ext cx="5120640" cy="1097280"/>
          </a:xfrm>
          <a:prstGeom prst="rect">
            <a:avLst/>
          </a:prstGeom>
          <a:noFill/>
        </p:spPr>
        <p:txBody>
          <a:bodyPr wrap="square">
            <a:spAutoFit/>
          </a:bodyPr>
          <a:lstStyle/>
          <a:p>
            <a:pPr>
              <a:spcAft>
                <a:spcPts val="400"/>
              </a:spcAft>
              <a:defRPr sz="1100">
                <a:solidFill>
                  <a:srgbClr val="94A3B8"/>
                </a:solidFill>
                <a:latin typeface="Calibri"/>
              </a:defRPr>
            </a:pPr>
            <a:r>
              <a:t>✦ 8 preset cities + custom coordinates</a:t>
            </a:r>
          </a:p>
          <a:p>
            <a:pPr>
              <a:spcAft>
                <a:spcPts val="400"/>
              </a:spcAft>
              <a:defRPr sz="1100">
                <a:solidFill>
                  <a:srgbClr val="94A3B8"/>
                </a:solidFill>
                <a:latin typeface="Calibri"/>
              </a:defRPr>
            </a:pPr>
            <a:r>
              <a:t>✦ 10 products with real-time stock</a:t>
            </a:r>
          </a:p>
          <a:p>
            <a:pPr>
              <a:spcAft>
                <a:spcPts val="400"/>
              </a:spcAft>
              <a:defRPr sz="1100">
                <a:solidFill>
                  <a:srgbClr val="94A3B8"/>
                </a:solidFill>
                <a:latin typeface="Calibri"/>
              </a:defRPr>
            </a:pPr>
            <a:r>
              <a:t>✦ Cart panel with quantity controls</a:t>
            </a:r>
          </a:p>
          <a:p>
            <a:pPr>
              <a:spcAft>
                <a:spcPts val="400"/>
              </a:spcAft>
              <a:defRPr sz="1100">
                <a:solidFill>
                  <a:srgbClr val="94A3B8"/>
                </a:solidFill>
                <a:latin typeface="Calibri"/>
              </a:defRPr>
            </a:pPr>
            <a:r>
              <a:t>✦ Full checkout triggers routing algorithm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3 — FRONTEND</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Control Tower Frontend Integration</a:t>
            </a:r>
          </a:p>
        </p:txBody>
      </p:sp>
      <p:sp>
        <p:nvSpPr>
          <p:cNvPr id="5" name="TextBox 4"/>
          <p:cNvSpPr txBox="1"/>
          <p:nvPr/>
        </p:nvSpPr>
        <p:spPr>
          <a:xfrm>
            <a:off x="914400" y="1188720"/>
            <a:ext cx="7315200" cy="274320"/>
          </a:xfrm>
          <a:prstGeom prst="rect">
            <a:avLst/>
          </a:prstGeom>
          <a:noFill/>
        </p:spPr>
        <p:txBody>
          <a:bodyPr wrap="square">
            <a:spAutoFit/>
          </a:bodyPr>
          <a:lstStyle/>
          <a:p>
            <a:pPr algn="l">
              <a:defRPr sz="1300" b="0">
                <a:solidFill>
                  <a:srgbClr val="64748B"/>
                </a:solidFill>
                <a:latin typeface="Calibri"/>
              </a:defRPr>
            </a:pPr>
            <a:r>
              <a:t>Member 3 — Frontend, Analytics &amp; Geospatial Visualization Lead</a:t>
            </a:r>
          </a:p>
        </p:txBody>
      </p:sp>
      <p:pic>
        <p:nvPicPr>
          <p:cNvPr id="6" name="Picture 5" descr="ppt_user_control_tower_popup.png"/>
          <p:cNvPicPr>
            <a:picLocks noChangeAspect="1"/>
          </p:cNvPicPr>
          <p:nvPr/>
        </p:nvPicPr>
        <p:blipFill>
          <a:blip r:embed="rId2"/>
          <a:stretch>
            <a:fillRect/>
          </a:stretch>
        </p:blipFill>
        <p:spPr>
          <a:xfrm>
            <a:off x="457200" y="1645920"/>
            <a:ext cx="7772400" cy="3036094"/>
          </a:xfrm>
          <a:prstGeom prst="rect">
            <a:avLst/>
          </a:prstGeom>
        </p:spPr>
      </p:pic>
      <p:sp>
        <p:nvSpPr>
          <p:cNvPr id="7" name="TextBox 6"/>
          <p:cNvSpPr txBox="1"/>
          <p:nvPr/>
        </p:nvSpPr>
        <p:spPr>
          <a:xfrm>
            <a:off x="8503920" y="1645920"/>
            <a:ext cx="3474720" cy="5029200"/>
          </a:xfrm>
          <a:prstGeom prst="rect">
            <a:avLst/>
          </a:prstGeom>
          <a:noFill/>
        </p:spPr>
        <p:txBody>
          <a:bodyPr wrap="square">
            <a:spAutoFit/>
          </a:bodyPr>
          <a:lstStyle/>
          <a:p>
            <a:pPr>
              <a:spcAft>
                <a:spcPts val="500"/>
              </a:spcAft>
              <a:defRPr sz="1100">
                <a:solidFill>
                  <a:srgbClr val="94A3B8"/>
                </a:solidFill>
                <a:latin typeface="Calibri"/>
              </a:defRPr>
            </a:pPr>
            <a:r>
              <a:t>✦ MapLibre route visualization</a:t>
            </a:r>
          </a:p>
          <a:p>
            <a:pPr>
              <a:spcAft>
                <a:spcPts val="500"/>
              </a:spcAft>
              <a:defRPr sz="1100">
                <a:solidFill>
                  <a:srgbClr val="94A3B8"/>
                </a:solidFill>
                <a:latin typeface="Calibri"/>
              </a:defRPr>
            </a:pPr>
            <a:r>
              <a:t>✦ Warehouse markers (health-coded)</a:t>
            </a:r>
          </a:p>
          <a:p>
            <a:pPr>
              <a:spcAft>
                <a:spcPts val="500"/>
              </a:spcAft>
              <a:defRPr sz="1100">
                <a:solidFill>
                  <a:srgbClr val="94A3B8"/>
                </a:solidFill>
                <a:latin typeface="Calibri"/>
              </a:defRPr>
            </a:pPr>
            <a:r>
              <a:t>✦ Click marker → inventory popup</a:t>
            </a:r>
          </a:p>
          <a:p>
            <a:pPr>
              <a:spcAft>
                <a:spcPts val="500"/>
              </a:spcAft>
              <a:defRPr sz="1100">
                <a:solidFill>
                  <a:srgbClr val="94A3B8"/>
                </a:solidFill>
                <a:latin typeface="Calibri"/>
              </a:defRPr>
            </a:pPr>
            <a:r>
              <a:t>✦ Shipment route lines (color-coded)</a:t>
            </a:r>
          </a:p>
          <a:p>
            <a:pPr>
              <a:spcAft>
                <a:spcPts val="500"/>
              </a:spcAft>
              <a:defRPr sz="1100">
                <a:solidFill>
                  <a:srgbClr val="94A3B8"/>
                </a:solidFill>
                <a:latin typeface="Calibri"/>
              </a:defRPr>
            </a:pPr>
          </a:p>
          <a:p>
            <a:pPr>
              <a:spcAft>
                <a:spcPts val="500"/>
              </a:spcAft>
              <a:defRPr sz="1100">
                <a:solidFill>
                  <a:srgbClr val="94A3B8"/>
                </a:solidFill>
                <a:latin typeface="Calibri"/>
              </a:defRPr>
            </a:pPr>
            <a:r>
              <a:t>POPUP DETAILS:</a:t>
            </a:r>
          </a:p>
          <a:p>
            <a:pPr>
              <a:spcAft>
                <a:spcPts val="500"/>
              </a:spcAft>
              <a:defRPr sz="1100">
                <a:solidFill>
                  <a:srgbClr val="94A3B8"/>
                </a:solidFill>
                <a:latin typeface="Calibri"/>
              </a:defRPr>
            </a:pPr>
            <a:r>
              <a:t>  • Warehouse name &amp; coordinates</a:t>
            </a:r>
          </a:p>
          <a:p>
            <a:pPr>
              <a:spcAft>
                <a:spcPts val="500"/>
              </a:spcAft>
              <a:defRPr sz="1100">
                <a:solidFill>
                  <a:srgbClr val="94A3B8"/>
                </a:solidFill>
                <a:latin typeface="Calibri"/>
              </a:defRPr>
            </a:pPr>
            <a:r>
              <a:t>  • Stock status badge (Healthy/Low)</a:t>
            </a:r>
          </a:p>
          <a:p>
            <a:pPr>
              <a:spcAft>
                <a:spcPts val="500"/>
              </a:spcAft>
              <a:defRPr sz="1100">
                <a:solidFill>
                  <a:srgbClr val="94A3B8"/>
                </a:solidFill>
                <a:latin typeface="Calibri"/>
              </a:defRPr>
            </a:pPr>
            <a:r>
              <a:t>  • SKU-level Available / Reserved</a:t>
            </a:r>
          </a:p>
          <a:p>
            <a:pPr>
              <a:spcAft>
                <a:spcPts val="500"/>
              </a:spcAft>
              <a:defRPr sz="1100">
                <a:solidFill>
                  <a:srgbClr val="94A3B8"/>
                </a:solidFill>
                <a:latin typeface="Calibri"/>
              </a:defRPr>
            </a:pPr>
          </a:p>
          <a:p>
            <a:pPr>
              <a:spcAft>
                <a:spcPts val="500"/>
              </a:spcAft>
              <a:defRPr sz="1100">
                <a:solidFill>
                  <a:srgbClr val="94A3B8"/>
                </a:solidFill>
                <a:latin typeface="Calibri"/>
              </a:defRPr>
            </a:pPr>
            <a:r>
              <a:t>5 WAREHOUSES:</a:t>
            </a:r>
          </a:p>
          <a:p>
            <a:pPr>
              <a:spcAft>
                <a:spcPts val="500"/>
              </a:spcAft>
              <a:defRPr sz="1100">
                <a:solidFill>
                  <a:srgbClr val="94A3B8"/>
                </a:solidFill>
                <a:latin typeface="Calibri"/>
              </a:defRPr>
            </a:pPr>
            <a:r>
              <a:t>  • Mumbai Central</a:t>
            </a:r>
          </a:p>
          <a:p>
            <a:pPr>
              <a:spcAft>
                <a:spcPts val="500"/>
              </a:spcAft>
              <a:defRPr sz="1100">
                <a:solidFill>
                  <a:srgbClr val="94A3B8"/>
                </a:solidFill>
                <a:latin typeface="Calibri"/>
              </a:defRPr>
            </a:pPr>
            <a:r>
              <a:t>  • Bangalore Tech Park DC</a:t>
            </a:r>
          </a:p>
          <a:p>
            <a:pPr>
              <a:spcAft>
                <a:spcPts val="500"/>
              </a:spcAft>
              <a:defRPr sz="1100">
                <a:solidFill>
                  <a:srgbClr val="94A3B8"/>
                </a:solidFill>
                <a:latin typeface="Calibri"/>
              </a:defRPr>
            </a:pPr>
            <a:r>
              <a:t>  • Chennai Port</a:t>
            </a:r>
          </a:p>
          <a:p>
            <a:pPr>
              <a:spcAft>
                <a:spcPts val="500"/>
              </a:spcAft>
              <a:defRPr sz="1100">
                <a:solidFill>
                  <a:srgbClr val="94A3B8"/>
                </a:solidFill>
                <a:latin typeface="Calibri"/>
              </a:defRPr>
            </a:pPr>
            <a:r>
              <a:t>  • Kolkata East Hub</a:t>
            </a:r>
          </a:p>
          <a:p>
            <a:pPr>
              <a:spcAft>
                <a:spcPts val="500"/>
              </a:spcAft>
              <a:defRPr sz="1100">
                <a:solidFill>
                  <a:srgbClr val="94A3B8"/>
                </a:solidFill>
                <a:latin typeface="Calibri"/>
              </a:defRPr>
            </a:pPr>
            <a:r>
              <a:t>  • Delhi NCR Fulfillment Hub</a:t>
            </a:r>
          </a:p>
          <a:p>
            <a:pPr>
              <a:spcAft>
                <a:spcPts val="500"/>
              </a:spcAft>
              <a:defRPr sz="1100">
                <a:solidFill>
                  <a:srgbClr val="94A3B8"/>
                </a:solidFill>
                <a:latin typeface="Calibri"/>
              </a:defRPr>
            </a:pPr>
          </a:p>
          <a:p>
            <a:pPr>
              <a:spcAft>
                <a:spcPts val="500"/>
              </a:spcAft>
              <a:defRPr sz="1100">
                <a:solidFill>
                  <a:srgbClr val="94A3B8"/>
                </a:solidFill>
                <a:latin typeface="Calibri"/>
              </a:defRPr>
            </a:pPr>
            <a:r>
              <a:t>✦ Frontend API integration</a:t>
            </a:r>
          </a:p>
          <a:p>
            <a:pPr>
              <a:spcAft>
                <a:spcPts val="500"/>
              </a:spcAft>
              <a:defRPr sz="1100">
                <a:solidFill>
                  <a:srgbClr val="94A3B8"/>
                </a:solidFill>
                <a:latin typeface="Calibri"/>
              </a:defRPr>
            </a:pPr>
            <a:r>
              <a:t>✦ Responsive design &amp; polish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MEMBER 3 — FRONTEND</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Analytics Dashboard &amp; AI Explanation UI</a:t>
            </a:r>
          </a:p>
        </p:txBody>
      </p:sp>
      <p:pic>
        <p:nvPicPr>
          <p:cNvPr id="5" name="Picture 4" descr="ppt_analytics.png"/>
          <p:cNvPicPr>
            <a:picLocks noChangeAspect="1"/>
          </p:cNvPicPr>
          <p:nvPr/>
        </p:nvPicPr>
        <p:blipFill>
          <a:blip r:embed="rId2"/>
          <a:stretch>
            <a:fillRect/>
          </a:stretch>
        </p:blipFill>
        <p:spPr>
          <a:xfrm>
            <a:off x="274320" y="1371600"/>
            <a:ext cx="5760720" cy="5212652"/>
          </a:xfrm>
          <a:prstGeom prst="rect">
            <a:avLst/>
          </a:prstGeom>
        </p:spPr>
      </p:pic>
      <p:pic>
        <p:nvPicPr>
          <p:cNvPr id="6" name="Picture 5" descr="ppt_user_analytics_ai.png"/>
          <p:cNvPicPr>
            <a:picLocks noChangeAspect="1"/>
          </p:cNvPicPr>
          <p:nvPr/>
        </p:nvPicPr>
        <p:blipFill>
          <a:blip r:embed="rId3"/>
          <a:stretch>
            <a:fillRect/>
          </a:stretch>
        </p:blipFill>
        <p:spPr>
          <a:xfrm>
            <a:off x="6217920" y="1371600"/>
            <a:ext cx="5760720" cy="3476685"/>
          </a:xfrm>
          <a:prstGeom prst="rect">
            <a:avLst/>
          </a:prstGeom>
        </p:spPr>
      </p:pic>
      <p:sp>
        <p:nvSpPr>
          <p:cNvPr id="7" name="TextBox 6"/>
          <p:cNvSpPr txBox="1"/>
          <p:nvPr/>
        </p:nvSpPr>
        <p:spPr>
          <a:xfrm>
            <a:off x="274320" y="5486400"/>
            <a:ext cx="5760720" cy="274320"/>
          </a:xfrm>
          <a:prstGeom prst="rect">
            <a:avLst/>
          </a:prstGeom>
          <a:noFill/>
        </p:spPr>
        <p:txBody>
          <a:bodyPr wrap="square">
            <a:spAutoFit/>
          </a:bodyPr>
          <a:lstStyle/>
          <a:p>
            <a:pPr algn="ctr">
              <a:defRPr sz="1100" b="1">
                <a:solidFill>
                  <a:srgbClr val="818CF8"/>
                </a:solidFill>
                <a:latin typeface="Calibri"/>
              </a:defRPr>
            </a:pPr>
            <a:r>
              <a:t>ANALYTICS DASHBOARD (Recharts)</a:t>
            </a:r>
          </a:p>
        </p:txBody>
      </p:sp>
      <p:sp>
        <p:nvSpPr>
          <p:cNvPr id="8" name="TextBox 7"/>
          <p:cNvSpPr txBox="1"/>
          <p:nvPr/>
        </p:nvSpPr>
        <p:spPr>
          <a:xfrm>
            <a:off x="274320" y="5760720"/>
            <a:ext cx="5760720" cy="731520"/>
          </a:xfrm>
          <a:prstGeom prst="rect">
            <a:avLst/>
          </a:prstGeom>
          <a:noFill/>
        </p:spPr>
        <p:txBody>
          <a:bodyPr wrap="square">
            <a:spAutoFit/>
          </a:bodyPr>
          <a:lstStyle/>
          <a:p>
            <a:pPr algn="ctr">
              <a:defRPr sz="1000" b="0">
                <a:solidFill>
                  <a:srgbClr val="94A3B8"/>
                </a:solidFill>
                <a:latin typeface="Calibri"/>
              </a:defRPr>
            </a:pPr>
            <a:r>
              <a:t>KPIs · Orders per warehouse · Routing cost trends · Warehouse inventory health · Low-stock badges</a:t>
            </a:r>
          </a:p>
        </p:txBody>
      </p:sp>
      <p:sp>
        <p:nvSpPr>
          <p:cNvPr id="9" name="TextBox 8"/>
          <p:cNvSpPr txBox="1"/>
          <p:nvPr/>
        </p:nvSpPr>
        <p:spPr>
          <a:xfrm>
            <a:off x="6217920" y="5486400"/>
            <a:ext cx="5760720" cy="274320"/>
          </a:xfrm>
          <a:prstGeom prst="rect">
            <a:avLst/>
          </a:prstGeom>
          <a:noFill/>
        </p:spPr>
        <p:txBody>
          <a:bodyPr wrap="square">
            <a:spAutoFit/>
          </a:bodyPr>
          <a:lstStyle/>
          <a:p>
            <a:pPr algn="ctr">
              <a:defRPr sz="1100" b="1">
                <a:solidFill>
                  <a:srgbClr val="818CF8"/>
                </a:solidFill>
                <a:latin typeface="Calibri"/>
              </a:defRPr>
            </a:pPr>
            <a:r>
              <a:t>AI EXPLANATION UI</a:t>
            </a:r>
          </a:p>
        </p:txBody>
      </p:sp>
      <p:sp>
        <p:nvSpPr>
          <p:cNvPr id="10" name="TextBox 9"/>
          <p:cNvSpPr txBox="1"/>
          <p:nvPr/>
        </p:nvSpPr>
        <p:spPr>
          <a:xfrm>
            <a:off x="6217920" y="5760720"/>
            <a:ext cx="5760720" cy="731520"/>
          </a:xfrm>
          <a:prstGeom prst="rect">
            <a:avLst/>
          </a:prstGeom>
          <a:noFill/>
        </p:spPr>
        <p:txBody>
          <a:bodyPr wrap="square">
            <a:spAutoFit/>
          </a:bodyPr>
          <a:lstStyle/>
          <a:p>
            <a:pPr algn="ctr">
              <a:defRPr sz="1000" b="0">
                <a:solidFill>
                  <a:srgbClr val="94A3B8"/>
                </a:solidFill>
                <a:latin typeface="Calibri"/>
              </a:defRPr>
            </a:pPr>
            <a:r>
              <a:t>Gemini vs deterministic breakdown · AI explanation source · Flash-sale stress test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M1 + M3</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How It Works — Interactive Architecture Guide</a:t>
            </a:r>
          </a:p>
        </p:txBody>
      </p:sp>
      <p:pic>
        <p:nvPicPr>
          <p:cNvPr id="5" name="Picture 4" descr="ppt_how_it_works.png"/>
          <p:cNvPicPr>
            <a:picLocks noChangeAspect="1"/>
          </p:cNvPicPr>
          <p:nvPr/>
        </p:nvPicPr>
        <p:blipFill>
          <a:blip r:embed="rId2"/>
          <a:stretch>
            <a:fillRect/>
          </a:stretch>
        </p:blipFill>
        <p:spPr>
          <a:xfrm>
            <a:off x="457200" y="1645920"/>
            <a:ext cx="7772400" cy="5883275"/>
          </a:xfrm>
          <a:prstGeom prst="rect">
            <a:avLst/>
          </a:prstGeom>
        </p:spPr>
      </p:pic>
      <p:sp>
        <p:nvSpPr>
          <p:cNvPr id="6" name="TextBox 5"/>
          <p:cNvSpPr txBox="1"/>
          <p:nvPr/>
        </p:nvSpPr>
        <p:spPr>
          <a:xfrm>
            <a:off x="8503920" y="1645920"/>
            <a:ext cx="3474720" cy="5029200"/>
          </a:xfrm>
          <a:prstGeom prst="rect">
            <a:avLst/>
          </a:prstGeom>
          <a:noFill/>
        </p:spPr>
        <p:txBody>
          <a:bodyPr wrap="square">
            <a:spAutoFit/>
          </a:bodyPr>
          <a:lstStyle/>
          <a:p>
            <a:pPr>
              <a:spcAft>
                <a:spcPts val="500"/>
              </a:spcAft>
              <a:defRPr sz="1100">
                <a:solidFill>
                  <a:srgbClr val="94A3B8"/>
                </a:solidFill>
                <a:latin typeface="Calibri"/>
              </a:defRPr>
            </a:pPr>
            <a:r>
              <a:t>✦ 7-step visual walkthrough:</a:t>
            </a:r>
          </a:p>
          <a:p>
            <a:pPr>
              <a:spcAft>
                <a:spcPts val="500"/>
              </a:spcAft>
              <a:defRPr sz="1100">
                <a:solidFill>
                  <a:srgbClr val="94A3B8"/>
                </a:solidFill>
                <a:latin typeface="Calibri"/>
              </a:defRPr>
            </a:pPr>
            <a:r>
              <a:t>   1. Customer Order</a:t>
            </a:r>
          </a:p>
          <a:p>
            <a:pPr>
              <a:spcAft>
                <a:spcPts val="500"/>
              </a:spcAft>
              <a:defRPr sz="1100">
                <a:solidFill>
                  <a:srgbClr val="94A3B8"/>
                </a:solidFill>
                <a:latin typeface="Calibri"/>
              </a:defRPr>
            </a:pPr>
            <a:r>
              <a:t>   2. Warehouse Evaluation  [M1]</a:t>
            </a:r>
          </a:p>
          <a:p>
            <a:pPr>
              <a:spcAft>
                <a:spcPts val="500"/>
              </a:spcAft>
              <a:defRPr sz="1100">
                <a:solidFill>
                  <a:srgbClr val="94A3B8"/>
                </a:solidFill>
                <a:latin typeface="Calibri"/>
              </a:defRPr>
            </a:pPr>
            <a:r>
              <a:t>   3. Cost Scoring  [M1]</a:t>
            </a:r>
          </a:p>
          <a:p>
            <a:pPr>
              <a:spcAft>
                <a:spcPts val="500"/>
              </a:spcAft>
              <a:defRPr sz="1100">
                <a:solidFill>
                  <a:srgbClr val="94A3B8"/>
                </a:solidFill>
                <a:latin typeface="Calibri"/>
              </a:defRPr>
            </a:pPr>
            <a:r>
              <a:t>   4. Bin-Packing  [M1]</a:t>
            </a:r>
          </a:p>
          <a:p>
            <a:pPr>
              <a:spcAft>
                <a:spcPts val="500"/>
              </a:spcAft>
              <a:defRPr sz="1100">
                <a:solidFill>
                  <a:srgbClr val="94A3B8"/>
                </a:solidFill>
                <a:latin typeface="Calibri"/>
              </a:defRPr>
            </a:pPr>
            <a:r>
              <a:t>   5. Inventory Protection  [M2]</a:t>
            </a:r>
          </a:p>
          <a:p>
            <a:pPr>
              <a:spcAft>
                <a:spcPts val="500"/>
              </a:spcAft>
              <a:defRPr sz="1100">
                <a:solidFill>
                  <a:srgbClr val="94A3B8"/>
                </a:solidFill>
                <a:latin typeface="Calibri"/>
              </a:defRPr>
            </a:pPr>
            <a:r>
              <a:t>   6. Instant Confirmation  [M2]</a:t>
            </a:r>
          </a:p>
          <a:p>
            <a:pPr>
              <a:spcAft>
                <a:spcPts val="500"/>
              </a:spcAft>
              <a:defRPr sz="1100">
                <a:solidFill>
                  <a:srgbClr val="94A3B8"/>
                </a:solidFill>
                <a:latin typeface="Calibri"/>
              </a:defRPr>
            </a:pPr>
            <a:r>
              <a:t>   7. AI Explanation  [M2+M3]</a:t>
            </a:r>
          </a:p>
          <a:p>
            <a:pPr>
              <a:spcAft>
                <a:spcPts val="500"/>
              </a:spcAft>
              <a:defRPr sz="1100">
                <a:solidFill>
                  <a:srgbClr val="94A3B8"/>
                </a:solidFill>
                <a:latin typeface="Calibri"/>
              </a:defRPr>
            </a:pPr>
          </a:p>
          <a:p>
            <a:pPr>
              <a:spcAft>
                <a:spcPts val="500"/>
              </a:spcAft>
              <a:defRPr sz="1100">
                <a:solidFill>
                  <a:srgbClr val="94A3B8"/>
                </a:solidFill>
                <a:latin typeface="Calibri"/>
              </a:defRPr>
            </a:pPr>
            <a:r>
              <a:t>✦ SYNC/ASYNC step labels</a:t>
            </a:r>
          </a:p>
          <a:p>
            <a:pPr>
              <a:spcAft>
                <a:spcPts val="500"/>
              </a:spcAft>
              <a:defRPr sz="1100">
                <a:solidFill>
                  <a:srgbClr val="94A3B8"/>
                </a:solidFill>
                <a:latin typeface="Calibri"/>
              </a:defRPr>
            </a:pPr>
            <a:r>
              <a:t>✦ Async boundary marker</a:t>
            </a:r>
          </a:p>
          <a:p>
            <a:pPr>
              <a:spcAft>
                <a:spcPts val="500"/>
              </a:spcAft>
              <a:defRPr sz="1100">
                <a:solidFill>
                  <a:srgbClr val="94A3B8"/>
                </a:solidFill>
                <a:latin typeface="Calibri"/>
              </a:defRPr>
            </a:pPr>
            <a:r>
              <a:t>✦ Dual-path comparison</a:t>
            </a:r>
          </a:p>
          <a:p>
            <a:pPr>
              <a:spcAft>
                <a:spcPts val="500"/>
              </a:spcAft>
              <a:defRPr sz="1100">
                <a:solidFill>
                  <a:srgbClr val="94A3B8"/>
                </a:solidFill>
                <a:latin typeface="Calibri"/>
              </a:defRPr>
            </a:pPr>
            <a:r>
              <a:t>✦ Technology stack grid</a:t>
            </a:r>
          </a:p>
          <a:p>
            <a:pPr>
              <a:spcAft>
                <a:spcPts val="500"/>
              </a:spcAft>
              <a:defRPr sz="1100">
                <a:solidFill>
                  <a:srgbClr val="94A3B8"/>
                </a:solidFill>
                <a:latin typeface="Calibri"/>
              </a:defRPr>
            </a:pPr>
            <a:r>
              <a:t>✦ Architecture guarantees panel</a:t>
            </a:r>
          </a:p>
          <a:p>
            <a:pPr>
              <a:spcAft>
                <a:spcPts val="500"/>
              </a:spcAft>
              <a:defRPr sz="1100">
                <a:solidFill>
                  <a:srgbClr val="94A3B8"/>
                </a:solidFill>
                <a:latin typeface="Calibri"/>
              </a:defRPr>
            </a:pPr>
            <a:r>
              <a:t>✦ Designed for viva demo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M2 + M3</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Customer E-Commerce Experience</a:t>
            </a:r>
          </a:p>
        </p:txBody>
      </p:sp>
      <p:pic>
        <p:nvPicPr>
          <p:cNvPr id="5" name="Picture 4" descr="ppt_order_simulator.png"/>
          <p:cNvPicPr>
            <a:picLocks noChangeAspect="1"/>
          </p:cNvPicPr>
          <p:nvPr/>
        </p:nvPicPr>
        <p:blipFill>
          <a:blip r:embed="rId2"/>
          <a:stretch>
            <a:fillRect/>
          </a:stretch>
        </p:blipFill>
        <p:spPr>
          <a:xfrm>
            <a:off x="457200" y="1463040"/>
            <a:ext cx="7772400" cy="6298882"/>
          </a:xfrm>
          <a:prstGeom prst="rect">
            <a:avLst/>
          </a:prstGeom>
        </p:spPr>
      </p:pic>
      <p:sp>
        <p:nvSpPr>
          <p:cNvPr id="6" name="TextBox 5"/>
          <p:cNvSpPr txBox="1"/>
          <p:nvPr/>
        </p:nvSpPr>
        <p:spPr>
          <a:xfrm>
            <a:off x="8503920" y="1463040"/>
            <a:ext cx="3474720" cy="5029200"/>
          </a:xfrm>
          <a:prstGeom prst="rect">
            <a:avLst/>
          </a:prstGeom>
          <a:noFill/>
        </p:spPr>
        <p:txBody>
          <a:bodyPr wrap="square">
            <a:spAutoFit/>
          </a:bodyPr>
          <a:lstStyle/>
          <a:p>
            <a:pPr>
              <a:spcAft>
                <a:spcPts val="400"/>
              </a:spcAft>
              <a:defRPr sz="1100">
                <a:solidFill>
                  <a:srgbClr val="94A3B8"/>
                </a:solidFill>
                <a:latin typeface="Calibri"/>
              </a:defRPr>
            </a:pPr>
            <a:r>
              <a:t>CUSTOMER SEES:</a:t>
            </a:r>
          </a:p>
          <a:p>
            <a:pPr>
              <a:spcAft>
                <a:spcPts val="400"/>
              </a:spcAft>
              <a:defRPr sz="1100">
                <a:solidFill>
                  <a:srgbClr val="94A3B8"/>
                </a:solidFill>
                <a:latin typeface="Calibri"/>
              </a:defRPr>
            </a:pPr>
            <a:r>
              <a:t>  ✓ 8 preset delivery cities</a:t>
            </a:r>
          </a:p>
          <a:p>
            <a:pPr>
              <a:spcAft>
                <a:spcPts val="400"/>
              </a:spcAft>
              <a:defRPr sz="1100">
                <a:solidFill>
                  <a:srgbClr val="94A3B8"/>
                </a:solidFill>
                <a:latin typeface="Calibri"/>
              </a:defRPr>
            </a:pPr>
            <a:r>
              <a:t>  ✓ Custom lat/lng entry</a:t>
            </a:r>
          </a:p>
          <a:p>
            <a:pPr>
              <a:spcAft>
                <a:spcPts val="400"/>
              </a:spcAft>
              <a:defRPr sz="1100">
                <a:solidFill>
                  <a:srgbClr val="94A3B8"/>
                </a:solidFill>
                <a:latin typeface="Calibri"/>
              </a:defRPr>
            </a:pPr>
            <a:r>
              <a:t>  ✓ 10 products with live stock</a:t>
            </a:r>
          </a:p>
          <a:p>
            <a:pPr>
              <a:spcAft>
                <a:spcPts val="400"/>
              </a:spcAft>
              <a:defRPr sz="1100">
                <a:solidFill>
                  <a:srgbClr val="94A3B8"/>
                </a:solidFill>
                <a:latin typeface="Calibri"/>
              </a:defRPr>
            </a:pPr>
            <a:r>
              <a:t>  ✓ Color-coded availability bars</a:t>
            </a:r>
          </a:p>
          <a:p>
            <a:pPr>
              <a:spcAft>
                <a:spcPts val="400"/>
              </a:spcAft>
              <a:defRPr sz="1100">
                <a:solidFill>
                  <a:srgbClr val="94A3B8"/>
                </a:solidFill>
                <a:latin typeface="Calibri"/>
              </a:defRPr>
            </a:pPr>
            <a:r>
              <a:t>  ✓ Cart with quantity controls</a:t>
            </a:r>
          </a:p>
          <a:p>
            <a:pPr>
              <a:spcAft>
                <a:spcPts val="400"/>
              </a:spcAft>
              <a:defRPr sz="1100">
                <a:solidFill>
                  <a:srgbClr val="94A3B8"/>
                </a:solidFill>
                <a:latin typeface="Calibri"/>
              </a:defRPr>
            </a:pPr>
            <a:r>
              <a:t>  ✓ Final price (includes delivery)</a:t>
            </a:r>
          </a:p>
          <a:p>
            <a:pPr>
              <a:spcAft>
                <a:spcPts val="400"/>
              </a:spcAft>
              <a:defRPr sz="1100">
                <a:solidFill>
                  <a:srgbClr val="94A3B8"/>
                </a:solidFill>
                <a:latin typeface="Calibri"/>
              </a:defRPr>
            </a:pPr>
            <a:r>
              <a:t>  ✓ Order confirmation</a:t>
            </a:r>
          </a:p>
          <a:p>
            <a:pPr>
              <a:spcAft>
                <a:spcPts val="400"/>
              </a:spcAft>
              <a:defRPr sz="1100">
                <a:solidFill>
                  <a:srgbClr val="94A3B8"/>
                </a:solidFill>
                <a:latin typeface="Calibri"/>
              </a:defRPr>
            </a:pPr>
          </a:p>
          <a:p>
            <a:pPr>
              <a:spcAft>
                <a:spcPts val="400"/>
              </a:spcAft>
              <a:defRPr sz="1100">
                <a:solidFill>
                  <a:srgbClr val="94A3B8"/>
                </a:solidFill>
                <a:latin typeface="Calibri"/>
              </a:defRPr>
            </a:pPr>
            <a:r>
              <a:t>CUSTOMER DOES NOT SEE:</a:t>
            </a:r>
          </a:p>
          <a:p>
            <a:pPr>
              <a:spcAft>
                <a:spcPts val="400"/>
              </a:spcAft>
              <a:defRPr sz="1100">
                <a:solidFill>
                  <a:srgbClr val="94A3B8"/>
                </a:solidFill>
                <a:latin typeface="Calibri"/>
              </a:defRPr>
            </a:pPr>
            <a:r>
              <a:t>  ✗ Warehouse selection logic</a:t>
            </a:r>
          </a:p>
          <a:p>
            <a:pPr>
              <a:spcAft>
                <a:spcPts val="400"/>
              </a:spcAft>
              <a:defRPr sz="1100">
                <a:solidFill>
                  <a:srgbClr val="94A3B8"/>
                </a:solidFill>
                <a:latin typeface="Calibri"/>
              </a:defRPr>
            </a:pPr>
            <a:r>
              <a:t>  ✗ Routing algorithm scores</a:t>
            </a:r>
          </a:p>
          <a:p>
            <a:pPr>
              <a:spcAft>
                <a:spcPts val="400"/>
              </a:spcAft>
              <a:defRPr sz="1100">
                <a:solidFill>
                  <a:srgbClr val="94A3B8"/>
                </a:solidFill>
                <a:latin typeface="Calibri"/>
              </a:defRPr>
            </a:pPr>
            <a:r>
              <a:t>  ✗ AI explanation</a:t>
            </a:r>
          </a:p>
          <a:p>
            <a:pPr>
              <a:spcAft>
                <a:spcPts val="400"/>
              </a:spcAft>
              <a:defRPr sz="1100">
                <a:solidFill>
                  <a:srgbClr val="94A3B8"/>
                </a:solidFill>
                <a:latin typeface="Calibri"/>
              </a:defRPr>
            </a:pPr>
            <a:r>
              <a:t>  ✗ Inventory locks</a:t>
            </a:r>
          </a:p>
          <a:p>
            <a:pPr>
              <a:spcAft>
                <a:spcPts val="400"/>
              </a:spcAft>
              <a:defRPr sz="1100">
                <a:solidFill>
                  <a:srgbClr val="94A3B8"/>
                </a:solidFill>
                <a:latin typeface="Calibri"/>
              </a:defRPr>
            </a:pPr>
            <a:r>
              <a:t>  ✗ System analytics</a:t>
            </a:r>
          </a:p>
          <a:p>
            <a:pPr>
              <a:spcAft>
                <a:spcPts val="400"/>
              </a:spcAft>
              <a:defRPr sz="1100">
                <a:solidFill>
                  <a:srgbClr val="94A3B8"/>
                </a:solidFill>
                <a:latin typeface="Calibri"/>
              </a:defRPr>
            </a:pPr>
          </a:p>
          <a:p>
            <a:pPr>
              <a:spcAft>
                <a:spcPts val="400"/>
              </a:spcAft>
              <a:defRPr sz="1100">
                <a:solidFill>
                  <a:srgbClr val="94A3B8"/>
                </a:solidFill>
                <a:latin typeface="Calibri"/>
              </a:defRPr>
            </a:pPr>
            <a:r>
              <a:t>PRINCIPLE:</a:t>
            </a:r>
          </a:p>
          <a:p>
            <a:pPr>
              <a:spcAft>
                <a:spcPts val="400"/>
              </a:spcAft>
              <a:defRPr sz="1100">
                <a:solidFill>
                  <a:srgbClr val="94A3B8"/>
                </a:solidFill>
                <a:latin typeface="Calibri"/>
              </a:defRPr>
            </a:pPr>
            <a:r>
              <a:t>  Customer sees results.</a:t>
            </a:r>
          </a:p>
          <a:p>
            <a:pPr>
              <a:spcAft>
                <a:spcPts val="400"/>
              </a:spcAft>
              <a:defRPr sz="1100">
                <a:solidFill>
                  <a:srgbClr val="94A3B8"/>
                </a:solidFill>
                <a:latin typeface="Calibri"/>
              </a:defRPr>
            </a:pPr>
            <a:r>
              <a:t>  Host sees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ALL MEMBERS</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Live Demo &amp; Test Results</a:t>
            </a:r>
          </a:p>
        </p:txBody>
      </p:sp>
      <p:sp>
        <p:nvSpPr>
          <p:cNvPr id="5" name="TextBox 4"/>
          <p:cNvSpPr txBox="1"/>
          <p:nvPr/>
        </p:nvSpPr>
        <p:spPr>
          <a:xfrm>
            <a:off x="914400" y="1371600"/>
            <a:ext cx="2743200" cy="274320"/>
          </a:xfrm>
          <a:prstGeom prst="rect">
            <a:avLst/>
          </a:prstGeom>
          <a:noFill/>
        </p:spPr>
        <p:txBody>
          <a:bodyPr wrap="square">
            <a:spAutoFit/>
          </a:bodyPr>
          <a:lstStyle/>
          <a:p>
            <a:pPr algn="l">
              <a:defRPr sz="1200" b="1">
                <a:solidFill>
                  <a:srgbClr val="818CF8"/>
                </a:solidFill>
                <a:latin typeface="Calibri"/>
              </a:defRPr>
            </a:pPr>
            <a:r>
              <a:t>DEMO FLOW</a:t>
            </a:r>
          </a:p>
        </p:txBody>
      </p:sp>
      <p:sp>
        <p:nvSpPr>
          <p:cNvPr id="6" name="TextBox 5"/>
          <p:cNvSpPr txBox="1"/>
          <p:nvPr/>
        </p:nvSpPr>
        <p:spPr>
          <a:xfrm>
            <a:off x="914400" y="1737360"/>
            <a:ext cx="5486400" cy="2286000"/>
          </a:xfrm>
          <a:prstGeom prst="rect">
            <a:avLst/>
          </a:prstGeom>
          <a:noFill/>
        </p:spPr>
        <p:txBody>
          <a:bodyPr wrap="square">
            <a:spAutoFit/>
          </a:bodyPr>
          <a:lstStyle/>
          <a:p>
            <a:pPr>
              <a:spcAft>
                <a:spcPts val="600"/>
              </a:spcAft>
              <a:defRPr sz="1300">
                <a:solidFill>
                  <a:srgbClr val="E2E8F0"/>
                </a:solidFill>
                <a:latin typeface="Calibri"/>
              </a:defRPr>
            </a:pPr>
            <a:r>
              <a:t>1.  Control Tower — show 5 warehouses on map  [M1+M3]</a:t>
            </a:r>
          </a:p>
          <a:p>
            <a:pPr>
              <a:spcAft>
                <a:spcPts val="600"/>
              </a:spcAft>
              <a:defRPr sz="1300">
                <a:solidFill>
                  <a:srgbClr val="E2E8F0"/>
                </a:solidFill>
                <a:latin typeface="Calibri"/>
              </a:defRPr>
            </a:pPr>
            <a:r>
              <a:t>2.  Click warehouse marker → inventory popup  [M3]</a:t>
            </a:r>
          </a:p>
          <a:p>
            <a:pPr>
              <a:spcAft>
                <a:spcPts val="600"/>
              </a:spcAft>
              <a:defRPr sz="1300">
                <a:solidFill>
                  <a:srgbClr val="E2E8F0"/>
                </a:solidFill>
                <a:latin typeface="Calibri"/>
              </a:defRPr>
            </a:pPr>
            <a:r>
              <a:t>3.  Order Simulator — select Jaipur, add products  [M2]</a:t>
            </a:r>
          </a:p>
          <a:p>
            <a:pPr>
              <a:spcAft>
                <a:spcPts val="600"/>
              </a:spcAft>
              <a:defRPr sz="1300">
                <a:solidFill>
                  <a:srgbClr val="E2E8F0"/>
                </a:solidFill>
                <a:latin typeface="Calibri"/>
              </a:defRPr>
            </a:pPr>
            <a:r>
              <a:t>4.  Place Order → routing algorithm runs  [M1+M2]</a:t>
            </a:r>
          </a:p>
          <a:p>
            <a:pPr>
              <a:spcAft>
                <a:spcPts val="600"/>
              </a:spcAft>
              <a:defRPr sz="1300">
                <a:solidFill>
                  <a:srgbClr val="E2E8F0"/>
                </a:solidFill>
                <a:latin typeface="Calibri"/>
              </a:defRPr>
            </a:pPr>
            <a:r>
              <a:t>5.  Control Tower — new route on map  [M3]</a:t>
            </a:r>
          </a:p>
          <a:p>
            <a:pPr>
              <a:spcAft>
                <a:spcPts val="600"/>
              </a:spcAft>
              <a:defRPr sz="1300">
                <a:solidFill>
                  <a:srgbClr val="E2E8F0"/>
                </a:solidFill>
                <a:latin typeface="Calibri"/>
              </a:defRPr>
            </a:pPr>
            <a:r>
              <a:t>6.  Analytics — updated charts  [M3]</a:t>
            </a:r>
          </a:p>
          <a:p>
            <a:pPr>
              <a:spcAft>
                <a:spcPts val="600"/>
              </a:spcAft>
              <a:defRPr sz="1300">
                <a:solidFill>
                  <a:srgbClr val="E2E8F0"/>
                </a:solidFill>
                <a:latin typeface="Calibri"/>
              </a:defRPr>
            </a:pPr>
            <a:r>
              <a:t>7.  Flash-Sale Test — 10 concurrent → 0 overselling  [M2]</a:t>
            </a:r>
          </a:p>
        </p:txBody>
      </p:sp>
      <p:sp>
        <p:nvSpPr>
          <p:cNvPr id="7" name="TextBox 6"/>
          <p:cNvSpPr txBox="1"/>
          <p:nvPr/>
        </p:nvSpPr>
        <p:spPr>
          <a:xfrm>
            <a:off x="914400" y="4114800"/>
            <a:ext cx="2743200" cy="274320"/>
          </a:xfrm>
          <a:prstGeom prst="rect">
            <a:avLst/>
          </a:prstGeom>
          <a:noFill/>
        </p:spPr>
        <p:txBody>
          <a:bodyPr wrap="square">
            <a:spAutoFit/>
          </a:bodyPr>
          <a:lstStyle/>
          <a:p>
            <a:pPr algn="l">
              <a:defRPr sz="1200" b="1">
                <a:solidFill>
                  <a:srgbClr val="818CF8"/>
                </a:solidFill>
                <a:latin typeface="Calibri"/>
              </a:defRPr>
            </a:pPr>
            <a:r>
              <a:t>TEST RESULTS</a:t>
            </a:r>
          </a:p>
        </p:txBody>
      </p:sp>
      <p:sp>
        <p:nvSpPr>
          <p:cNvPr id="8" name="Rounded Rectangle 7"/>
          <p:cNvSpPr/>
          <p:nvPr/>
        </p:nvSpPr>
        <p:spPr>
          <a:xfrm>
            <a:off x="914400" y="4480560"/>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489704"/>
            <a:ext cx="5029200" cy="256032"/>
          </a:xfrm>
          <a:prstGeom prst="rect">
            <a:avLst/>
          </a:prstGeom>
          <a:noFill/>
        </p:spPr>
        <p:txBody>
          <a:bodyPr wrap="square">
            <a:spAutoFit/>
          </a:bodyPr>
          <a:lstStyle/>
          <a:p>
            <a:pPr algn="l">
              <a:defRPr sz="1200" b="0">
                <a:solidFill>
                  <a:srgbClr val="E2E8F0"/>
                </a:solidFill>
                <a:latin typeface="Calibri"/>
              </a:defRPr>
            </a:pPr>
            <a:r>
              <a:t>Single-warehouse checkout</a:t>
            </a:r>
          </a:p>
        </p:txBody>
      </p:sp>
      <p:sp>
        <p:nvSpPr>
          <p:cNvPr id="10" name="TextBox 9"/>
          <p:cNvSpPr txBox="1"/>
          <p:nvPr/>
        </p:nvSpPr>
        <p:spPr>
          <a:xfrm>
            <a:off x="6400800" y="4489704"/>
            <a:ext cx="1828800" cy="256032"/>
          </a:xfrm>
          <a:prstGeom prst="rect">
            <a:avLst/>
          </a:prstGeom>
          <a:noFill/>
        </p:spPr>
        <p:txBody>
          <a:bodyPr wrap="square">
            <a:spAutoFit/>
          </a:bodyPr>
          <a:lstStyle/>
          <a:p>
            <a:pPr algn="l">
              <a:defRPr sz="1200" b="1">
                <a:solidFill>
                  <a:srgbClr val="34D399"/>
                </a:solidFill>
                <a:latin typeface="Calibri"/>
              </a:defRPr>
            </a:pPr>
            <a:r>
              <a:t>✅ Pass</a:t>
            </a:r>
          </a:p>
        </p:txBody>
      </p:sp>
      <p:sp>
        <p:nvSpPr>
          <p:cNvPr id="11" name="Rounded Rectangle 10"/>
          <p:cNvSpPr/>
          <p:nvPr/>
        </p:nvSpPr>
        <p:spPr>
          <a:xfrm>
            <a:off x="914400" y="4791456"/>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800600"/>
            <a:ext cx="5029200" cy="256032"/>
          </a:xfrm>
          <a:prstGeom prst="rect">
            <a:avLst/>
          </a:prstGeom>
          <a:noFill/>
        </p:spPr>
        <p:txBody>
          <a:bodyPr wrap="square">
            <a:spAutoFit/>
          </a:bodyPr>
          <a:lstStyle/>
          <a:p>
            <a:pPr algn="l">
              <a:defRPr sz="1200" b="0">
                <a:solidFill>
                  <a:srgbClr val="E2E8F0"/>
                </a:solidFill>
                <a:latin typeface="Calibri"/>
              </a:defRPr>
            </a:pPr>
            <a:r>
              <a:t>Multi-warehouse split</a:t>
            </a:r>
          </a:p>
        </p:txBody>
      </p:sp>
      <p:sp>
        <p:nvSpPr>
          <p:cNvPr id="13" name="TextBox 12"/>
          <p:cNvSpPr txBox="1"/>
          <p:nvPr/>
        </p:nvSpPr>
        <p:spPr>
          <a:xfrm>
            <a:off x="6400800" y="4800600"/>
            <a:ext cx="1828800" cy="256032"/>
          </a:xfrm>
          <a:prstGeom prst="rect">
            <a:avLst/>
          </a:prstGeom>
          <a:noFill/>
        </p:spPr>
        <p:txBody>
          <a:bodyPr wrap="square">
            <a:spAutoFit/>
          </a:bodyPr>
          <a:lstStyle/>
          <a:p>
            <a:pPr algn="l">
              <a:defRPr sz="1200" b="1">
                <a:solidFill>
                  <a:srgbClr val="34D399"/>
                </a:solidFill>
                <a:latin typeface="Calibri"/>
              </a:defRPr>
            </a:pPr>
            <a:r>
              <a:t>✅ Pass</a:t>
            </a:r>
          </a:p>
        </p:txBody>
      </p:sp>
      <p:sp>
        <p:nvSpPr>
          <p:cNvPr id="14" name="Rounded Rectangle 13"/>
          <p:cNvSpPr/>
          <p:nvPr/>
        </p:nvSpPr>
        <p:spPr>
          <a:xfrm>
            <a:off x="914400" y="5102352"/>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111496"/>
            <a:ext cx="5029200" cy="256032"/>
          </a:xfrm>
          <a:prstGeom prst="rect">
            <a:avLst/>
          </a:prstGeom>
          <a:noFill/>
        </p:spPr>
        <p:txBody>
          <a:bodyPr wrap="square">
            <a:spAutoFit/>
          </a:bodyPr>
          <a:lstStyle/>
          <a:p>
            <a:pPr algn="l">
              <a:defRPr sz="1200" b="0">
                <a:solidFill>
                  <a:srgbClr val="E2E8F0"/>
                </a:solidFill>
                <a:latin typeface="Calibri"/>
              </a:defRPr>
            </a:pPr>
            <a:r>
              <a:t>Insufficient stock rejection</a:t>
            </a:r>
          </a:p>
        </p:txBody>
      </p:sp>
      <p:sp>
        <p:nvSpPr>
          <p:cNvPr id="16" name="TextBox 15"/>
          <p:cNvSpPr txBox="1"/>
          <p:nvPr/>
        </p:nvSpPr>
        <p:spPr>
          <a:xfrm>
            <a:off x="6400800" y="5111496"/>
            <a:ext cx="1828800" cy="256032"/>
          </a:xfrm>
          <a:prstGeom prst="rect">
            <a:avLst/>
          </a:prstGeom>
          <a:noFill/>
        </p:spPr>
        <p:txBody>
          <a:bodyPr wrap="square">
            <a:spAutoFit/>
          </a:bodyPr>
          <a:lstStyle/>
          <a:p>
            <a:pPr algn="l">
              <a:defRPr sz="1200" b="1">
                <a:solidFill>
                  <a:srgbClr val="34D399"/>
                </a:solidFill>
                <a:latin typeface="Calibri"/>
              </a:defRPr>
            </a:pPr>
            <a:r>
              <a:t>✅ Pass</a:t>
            </a:r>
          </a:p>
        </p:txBody>
      </p:sp>
      <p:sp>
        <p:nvSpPr>
          <p:cNvPr id="17" name="Rounded Rectangle 16"/>
          <p:cNvSpPr/>
          <p:nvPr/>
        </p:nvSpPr>
        <p:spPr>
          <a:xfrm>
            <a:off x="914400" y="5413248"/>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422392"/>
            <a:ext cx="5029200" cy="256032"/>
          </a:xfrm>
          <a:prstGeom prst="rect">
            <a:avLst/>
          </a:prstGeom>
          <a:noFill/>
        </p:spPr>
        <p:txBody>
          <a:bodyPr wrap="square">
            <a:spAutoFit/>
          </a:bodyPr>
          <a:lstStyle/>
          <a:p>
            <a:pPr algn="l">
              <a:defRPr sz="1200" b="0">
                <a:solidFill>
                  <a:srgbClr val="E2E8F0"/>
                </a:solidFill>
                <a:latin typeface="Calibri"/>
              </a:defRPr>
            </a:pPr>
            <a:r>
              <a:t>Concurrent checkout (10 threads)</a:t>
            </a:r>
          </a:p>
        </p:txBody>
      </p:sp>
      <p:sp>
        <p:nvSpPr>
          <p:cNvPr id="19" name="TextBox 18"/>
          <p:cNvSpPr txBox="1"/>
          <p:nvPr/>
        </p:nvSpPr>
        <p:spPr>
          <a:xfrm>
            <a:off x="6400800" y="5422392"/>
            <a:ext cx="1828800" cy="256032"/>
          </a:xfrm>
          <a:prstGeom prst="rect">
            <a:avLst/>
          </a:prstGeom>
          <a:noFill/>
        </p:spPr>
        <p:txBody>
          <a:bodyPr wrap="square">
            <a:spAutoFit/>
          </a:bodyPr>
          <a:lstStyle/>
          <a:p>
            <a:pPr algn="l">
              <a:defRPr sz="1200" b="1">
                <a:solidFill>
                  <a:srgbClr val="34D399"/>
                </a:solidFill>
                <a:latin typeface="Calibri"/>
              </a:defRPr>
            </a:pPr>
            <a:r>
              <a:t>✅ 0 overselling</a:t>
            </a:r>
          </a:p>
        </p:txBody>
      </p:sp>
      <p:sp>
        <p:nvSpPr>
          <p:cNvPr id="20" name="Rounded Rectangle 19"/>
          <p:cNvSpPr/>
          <p:nvPr/>
        </p:nvSpPr>
        <p:spPr>
          <a:xfrm>
            <a:off x="914400" y="5724144"/>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733288"/>
            <a:ext cx="5029200" cy="256032"/>
          </a:xfrm>
          <a:prstGeom prst="rect">
            <a:avLst/>
          </a:prstGeom>
          <a:noFill/>
        </p:spPr>
        <p:txBody>
          <a:bodyPr wrap="square">
            <a:spAutoFit/>
          </a:bodyPr>
          <a:lstStyle/>
          <a:p>
            <a:pPr algn="l">
              <a:defRPr sz="1200" b="0">
                <a:solidFill>
                  <a:srgbClr val="E2E8F0"/>
                </a:solidFill>
                <a:latin typeface="Calibri"/>
              </a:defRPr>
            </a:pPr>
            <a:r>
              <a:t>Gemini AI explanation</a:t>
            </a:r>
          </a:p>
        </p:txBody>
      </p:sp>
      <p:sp>
        <p:nvSpPr>
          <p:cNvPr id="22" name="TextBox 21"/>
          <p:cNvSpPr txBox="1"/>
          <p:nvPr/>
        </p:nvSpPr>
        <p:spPr>
          <a:xfrm>
            <a:off x="6400800" y="5733288"/>
            <a:ext cx="1828800" cy="256032"/>
          </a:xfrm>
          <a:prstGeom prst="rect">
            <a:avLst/>
          </a:prstGeom>
          <a:noFill/>
        </p:spPr>
        <p:txBody>
          <a:bodyPr wrap="square">
            <a:spAutoFit/>
          </a:bodyPr>
          <a:lstStyle/>
          <a:p>
            <a:pPr algn="l">
              <a:defRPr sz="1200" b="1">
                <a:solidFill>
                  <a:srgbClr val="34D399"/>
                </a:solidFill>
                <a:latin typeface="Calibri"/>
              </a:defRPr>
            </a:pPr>
            <a:r>
              <a:t>✅ Generated</a:t>
            </a:r>
          </a:p>
        </p:txBody>
      </p:sp>
      <p:sp>
        <p:nvSpPr>
          <p:cNvPr id="23" name="Rounded Rectangle 22"/>
          <p:cNvSpPr/>
          <p:nvPr/>
        </p:nvSpPr>
        <p:spPr>
          <a:xfrm>
            <a:off x="914400" y="6035040"/>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6044184"/>
            <a:ext cx="5029200" cy="256032"/>
          </a:xfrm>
          <a:prstGeom prst="rect">
            <a:avLst/>
          </a:prstGeom>
          <a:noFill/>
        </p:spPr>
        <p:txBody>
          <a:bodyPr wrap="square">
            <a:spAutoFit/>
          </a:bodyPr>
          <a:lstStyle/>
          <a:p>
            <a:pPr algn="l">
              <a:defRPr sz="1200" b="0">
                <a:solidFill>
                  <a:srgbClr val="E2E8F0"/>
                </a:solidFill>
                <a:latin typeface="Calibri"/>
              </a:defRPr>
            </a:pPr>
            <a:r>
              <a:t>Gemini fallback (circuit breaker)</a:t>
            </a:r>
          </a:p>
        </p:txBody>
      </p:sp>
      <p:sp>
        <p:nvSpPr>
          <p:cNvPr id="25" name="TextBox 24"/>
          <p:cNvSpPr txBox="1"/>
          <p:nvPr/>
        </p:nvSpPr>
        <p:spPr>
          <a:xfrm>
            <a:off x="6400800" y="6044184"/>
            <a:ext cx="1828800" cy="256032"/>
          </a:xfrm>
          <a:prstGeom prst="rect">
            <a:avLst/>
          </a:prstGeom>
          <a:noFill/>
        </p:spPr>
        <p:txBody>
          <a:bodyPr wrap="square">
            <a:spAutoFit/>
          </a:bodyPr>
          <a:lstStyle/>
          <a:p>
            <a:pPr algn="l">
              <a:defRPr sz="1200" b="1">
                <a:solidFill>
                  <a:srgbClr val="34D399"/>
                </a:solidFill>
                <a:latin typeface="Calibri"/>
              </a:defRPr>
            </a:pPr>
            <a:r>
              <a:t>✅ Deterministic fallback</a:t>
            </a:r>
          </a:p>
        </p:txBody>
      </p:sp>
      <p:sp>
        <p:nvSpPr>
          <p:cNvPr id="26" name="Rounded Rectangle 25"/>
          <p:cNvSpPr/>
          <p:nvPr/>
        </p:nvSpPr>
        <p:spPr>
          <a:xfrm>
            <a:off x="914400" y="6345936"/>
            <a:ext cx="7315200" cy="2743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6355080"/>
            <a:ext cx="5029200" cy="256032"/>
          </a:xfrm>
          <a:prstGeom prst="rect">
            <a:avLst/>
          </a:prstGeom>
          <a:noFill/>
        </p:spPr>
        <p:txBody>
          <a:bodyPr wrap="square">
            <a:spAutoFit/>
          </a:bodyPr>
          <a:lstStyle/>
          <a:p>
            <a:pPr algn="l">
              <a:defRPr sz="1200" b="0">
                <a:solidFill>
                  <a:srgbClr val="E2E8F0"/>
                </a:solidFill>
                <a:latin typeface="Calibri"/>
              </a:defRPr>
            </a:pPr>
            <a:r>
              <a:t>Rate limiting (30 req/min)</a:t>
            </a:r>
          </a:p>
        </p:txBody>
      </p:sp>
      <p:sp>
        <p:nvSpPr>
          <p:cNvPr id="28" name="TextBox 27"/>
          <p:cNvSpPr txBox="1"/>
          <p:nvPr/>
        </p:nvSpPr>
        <p:spPr>
          <a:xfrm>
            <a:off x="6400800" y="6355080"/>
            <a:ext cx="1828800" cy="256032"/>
          </a:xfrm>
          <a:prstGeom prst="rect">
            <a:avLst/>
          </a:prstGeom>
          <a:noFill/>
        </p:spPr>
        <p:txBody>
          <a:bodyPr wrap="square">
            <a:spAutoFit/>
          </a:bodyPr>
          <a:lstStyle/>
          <a:p>
            <a:pPr algn="l">
              <a:defRPr sz="1200" b="1">
                <a:solidFill>
                  <a:srgbClr val="34D399"/>
                </a:solidFill>
                <a:latin typeface="Calibri"/>
              </a:defRPr>
            </a:pPr>
            <a:r>
              <a:t>✅ Enforced</a:t>
            </a:r>
          </a:p>
        </p:txBody>
      </p:sp>
      <p:pic>
        <p:nvPicPr>
          <p:cNvPr id="29" name="Picture 28" descr="ppt_user_analytics_inventory.png"/>
          <p:cNvPicPr>
            <a:picLocks noChangeAspect="1"/>
          </p:cNvPicPr>
          <p:nvPr/>
        </p:nvPicPr>
        <p:blipFill>
          <a:blip r:embed="rId2"/>
          <a:stretch>
            <a:fillRect/>
          </a:stretch>
        </p:blipFill>
        <p:spPr>
          <a:xfrm>
            <a:off x="8503920" y="1371600"/>
            <a:ext cx="3474720" cy="234825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9692640" y="274320"/>
            <a:ext cx="2194560" cy="3200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900" b="1">
                <a:solidFill>
                  <a:srgbClr val="FFFFFF"/>
                </a:solidFill>
                <a:latin typeface="Calibri"/>
              </a:defRPr>
            </a:pPr>
            <a:r>
              <a:t>ALL MEMBERS</a:t>
            </a:r>
          </a:p>
        </p:txBody>
      </p:sp>
      <p:sp>
        <p:nvSpPr>
          <p:cNvPr id="3" name="Rectangle 2"/>
          <p:cNvSpPr/>
          <p:nvPr/>
        </p:nvSpPr>
        <p:spPr>
          <a:xfrm>
            <a:off x="731520" y="731520"/>
            <a:ext cx="54864" cy="4114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457200"/>
          </a:xfrm>
          <a:prstGeom prst="rect">
            <a:avLst/>
          </a:prstGeom>
          <a:noFill/>
        </p:spPr>
        <p:txBody>
          <a:bodyPr wrap="square">
            <a:spAutoFit/>
          </a:bodyPr>
          <a:lstStyle/>
          <a:p>
            <a:pPr algn="l">
              <a:defRPr sz="3000" b="1">
                <a:solidFill>
                  <a:srgbClr val="FFFFFF"/>
                </a:solidFill>
                <a:latin typeface="Calibri"/>
              </a:defRPr>
            </a:pPr>
            <a:r>
              <a:t>Conclusion &amp; Future Scope</a:t>
            </a:r>
          </a:p>
        </p:txBody>
      </p:sp>
      <p:sp>
        <p:nvSpPr>
          <p:cNvPr id="5" name="Rounded Rectangle 4"/>
          <p:cNvSpPr/>
          <p:nvPr/>
        </p:nvSpPr>
        <p:spPr>
          <a:xfrm>
            <a:off x="731520" y="1371600"/>
            <a:ext cx="5303520" cy="43891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572000" cy="274320"/>
          </a:xfrm>
          <a:prstGeom prst="rect">
            <a:avLst/>
          </a:prstGeom>
          <a:noFill/>
        </p:spPr>
        <p:txBody>
          <a:bodyPr wrap="square">
            <a:spAutoFit/>
          </a:bodyPr>
          <a:lstStyle/>
          <a:p>
            <a:pPr algn="l">
              <a:defRPr sz="1200" b="1">
                <a:solidFill>
                  <a:srgbClr val="34D399"/>
                </a:solidFill>
                <a:latin typeface="Calibri"/>
              </a:defRPr>
            </a:pPr>
            <a:r>
              <a:t>WHAT WE BUILT</a:t>
            </a:r>
          </a:p>
        </p:txBody>
      </p:sp>
      <p:sp>
        <p:nvSpPr>
          <p:cNvPr id="7" name="TextBox 6"/>
          <p:cNvSpPr txBox="1"/>
          <p:nvPr/>
        </p:nvSpPr>
        <p:spPr>
          <a:xfrm>
            <a:off x="1097280" y="1828800"/>
            <a:ext cx="4754880" cy="3657600"/>
          </a:xfrm>
          <a:prstGeom prst="rect">
            <a:avLst/>
          </a:prstGeom>
          <a:noFill/>
        </p:spPr>
        <p:txBody>
          <a:bodyPr wrap="square">
            <a:spAutoFit/>
          </a:bodyPr>
          <a:lstStyle/>
          <a:p>
            <a:pPr>
              <a:spcAft>
                <a:spcPts val="500"/>
              </a:spcAft>
              <a:defRPr sz="1200">
                <a:solidFill>
                  <a:srgbClr val="E2E8F0"/>
                </a:solidFill>
                <a:latin typeface="Calibri"/>
              </a:defRPr>
            </a:pPr>
            <a:r>
              <a:t>✅ Multi-warehouse routing algorithm  [M1]</a:t>
            </a:r>
          </a:p>
          <a:p>
            <a:pPr>
              <a:spcAft>
                <a:spcPts val="500"/>
              </a:spcAft>
              <a:defRPr sz="1200">
                <a:solidFill>
                  <a:srgbClr val="E2E8F0"/>
                </a:solidFill>
                <a:latin typeface="Calibri"/>
              </a:defRPr>
            </a:pPr>
            <a:r>
              <a:t>✅ Split shipments &amp; bin-packing  [M1]</a:t>
            </a:r>
          </a:p>
          <a:p>
            <a:pPr>
              <a:spcAft>
                <a:spcPts val="500"/>
              </a:spcAft>
              <a:defRPr sz="1200">
                <a:solidFill>
                  <a:srgbClr val="E2E8F0"/>
                </a:solidFill>
                <a:latin typeface="Calibri"/>
              </a:defRPr>
            </a:pPr>
            <a:r>
              <a:t>✅ PostgreSQL schema &amp; performance  [M1]</a:t>
            </a:r>
          </a:p>
          <a:p>
            <a:pPr>
              <a:spcAft>
                <a:spcPts val="500"/>
              </a:spcAft>
              <a:defRPr sz="1200">
                <a:solidFill>
                  <a:srgbClr val="E2E8F0"/>
                </a:solidFill>
                <a:latin typeface="Calibri"/>
              </a:defRPr>
            </a:pPr>
            <a:r>
              <a:t>✅ Control Tower UI foundation  [M1]</a:t>
            </a:r>
          </a:p>
          <a:p>
            <a:pPr>
              <a:spcAft>
                <a:spcPts val="500"/>
              </a:spcAft>
              <a:defRPr sz="1200">
                <a:solidFill>
                  <a:srgbClr val="E2E8F0"/>
                </a:solidFill>
                <a:latin typeface="Calibri"/>
              </a:defRPr>
            </a:pPr>
            <a:r>
              <a:t>✅ Backend APIs &amp; checkout orchestration  [M2]</a:t>
            </a:r>
          </a:p>
          <a:p>
            <a:pPr>
              <a:spcAft>
                <a:spcPts val="500"/>
              </a:spcAft>
              <a:defRPr sz="1200">
                <a:solidFill>
                  <a:srgbClr val="E2E8F0"/>
                </a:solidFill>
                <a:latin typeface="Calibri"/>
              </a:defRPr>
            </a:pPr>
            <a:r>
              <a:t>✅ Redis concurrency protection  [M2]</a:t>
            </a:r>
          </a:p>
          <a:p>
            <a:pPr>
              <a:spcAft>
                <a:spcPts val="500"/>
              </a:spcAft>
              <a:defRPr sz="1200">
                <a:solidFill>
                  <a:srgbClr val="E2E8F0"/>
                </a:solidFill>
                <a:latin typeface="Calibri"/>
              </a:defRPr>
            </a:pPr>
            <a:r>
              <a:t>✅ Gemini AI + circuit breaker  [M2]</a:t>
            </a:r>
          </a:p>
          <a:p>
            <a:pPr>
              <a:spcAft>
                <a:spcPts val="500"/>
              </a:spcAft>
              <a:defRPr sz="1200">
                <a:solidFill>
                  <a:srgbClr val="E2E8F0"/>
                </a:solidFill>
                <a:latin typeface="Calibri"/>
              </a:defRPr>
            </a:pPr>
            <a:r>
              <a:t>✅ Order Simulator frontend  [M2]</a:t>
            </a:r>
          </a:p>
          <a:p>
            <a:pPr>
              <a:spcAft>
                <a:spcPts val="500"/>
              </a:spcAft>
              <a:defRPr sz="1200">
                <a:solidFill>
                  <a:srgbClr val="E2E8F0"/>
                </a:solidFill>
                <a:latin typeface="Calibri"/>
              </a:defRPr>
            </a:pPr>
            <a:r>
              <a:t>✅ Analytics dashboards (Recharts)  [M3]</a:t>
            </a:r>
          </a:p>
          <a:p>
            <a:pPr>
              <a:spcAft>
                <a:spcPts val="500"/>
              </a:spcAft>
              <a:defRPr sz="1200">
                <a:solidFill>
                  <a:srgbClr val="E2E8F0"/>
                </a:solidFill>
                <a:latin typeface="Calibri"/>
              </a:defRPr>
            </a:pPr>
            <a:r>
              <a:t>✅ MapLibre route visualization  [M3]</a:t>
            </a:r>
          </a:p>
          <a:p>
            <a:pPr>
              <a:spcAft>
                <a:spcPts val="500"/>
              </a:spcAft>
              <a:defRPr sz="1200">
                <a:solidFill>
                  <a:srgbClr val="E2E8F0"/>
                </a:solidFill>
                <a:latin typeface="Calibri"/>
              </a:defRPr>
            </a:pPr>
            <a:r>
              <a:t>✅ AI explanation UI  [M3]</a:t>
            </a:r>
          </a:p>
          <a:p>
            <a:pPr>
              <a:spcAft>
                <a:spcPts val="500"/>
              </a:spcAft>
              <a:defRPr sz="1200">
                <a:solidFill>
                  <a:srgbClr val="E2E8F0"/>
                </a:solidFill>
                <a:latin typeface="Calibri"/>
              </a:defRPr>
            </a:pPr>
            <a:r>
              <a:t>✅ Responsive design &amp; final polish  [M3]</a:t>
            </a:r>
          </a:p>
        </p:txBody>
      </p:sp>
      <p:sp>
        <p:nvSpPr>
          <p:cNvPr id="8" name="Rounded Rectangle 7"/>
          <p:cNvSpPr/>
          <p:nvPr/>
        </p:nvSpPr>
        <p:spPr>
          <a:xfrm>
            <a:off x="6309360" y="1371600"/>
            <a:ext cx="5303520" cy="4389120"/>
          </a:xfrm>
          <a:prstGeom prst="roundRect">
            <a:avLst/>
          </a:prstGeom>
          <a:solidFill>
            <a:srgbClr val="0F162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572000" cy="274320"/>
          </a:xfrm>
          <a:prstGeom prst="rect">
            <a:avLst/>
          </a:prstGeom>
          <a:noFill/>
        </p:spPr>
        <p:txBody>
          <a:bodyPr wrap="square">
            <a:spAutoFit/>
          </a:bodyPr>
          <a:lstStyle/>
          <a:p>
            <a:pPr algn="l">
              <a:defRPr sz="1200" b="1">
                <a:solidFill>
                  <a:srgbClr val="818CF8"/>
                </a:solidFill>
                <a:latin typeface="Calibri"/>
              </a:defRPr>
            </a:pPr>
            <a:r>
              <a:t>FUTURE SCOPE</a:t>
            </a:r>
          </a:p>
        </p:txBody>
      </p:sp>
      <p:sp>
        <p:nvSpPr>
          <p:cNvPr id="10" name="TextBox 9"/>
          <p:cNvSpPr txBox="1"/>
          <p:nvPr/>
        </p:nvSpPr>
        <p:spPr>
          <a:xfrm>
            <a:off x="6675120" y="1828800"/>
            <a:ext cx="4754880" cy="3657600"/>
          </a:xfrm>
          <a:prstGeom prst="rect">
            <a:avLst/>
          </a:prstGeom>
          <a:noFill/>
        </p:spPr>
        <p:txBody>
          <a:bodyPr wrap="square">
            <a:spAutoFit/>
          </a:bodyPr>
          <a:lstStyle/>
          <a:p>
            <a:pPr>
              <a:spcAft>
                <a:spcPts val="600"/>
              </a:spcAft>
              <a:defRPr sz="1200">
                <a:solidFill>
                  <a:srgbClr val="94A3B8"/>
                </a:solidFill>
                <a:latin typeface="Calibri"/>
              </a:defRPr>
            </a:pPr>
            <a:r>
              <a:t>🔮 Customer authentication (JWT)</a:t>
            </a:r>
          </a:p>
          <a:p>
            <a:pPr>
              <a:spcAft>
                <a:spcPts val="600"/>
              </a:spcAft>
              <a:defRPr sz="1200">
                <a:solidFill>
                  <a:srgbClr val="94A3B8"/>
                </a:solidFill>
                <a:latin typeface="Calibri"/>
              </a:defRPr>
            </a:pPr>
            <a:r>
              <a:t>🔮 Host warehouse/product CRUD panels</a:t>
            </a:r>
          </a:p>
          <a:p>
            <a:pPr>
              <a:spcAft>
                <a:spcPts val="600"/>
              </a:spcAft>
              <a:defRPr sz="1200">
                <a:solidFill>
                  <a:srgbClr val="94A3B8"/>
                </a:solidFill>
                <a:latin typeface="Calibri"/>
              </a:defRPr>
            </a:pPr>
            <a:r>
              <a:t>🔮 Real-time order tracking (WebSocket)</a:t>
            </a:r>
          </a:p>
          <a:p>
            <a:pPr>
              <a:spcAft>
                <a:spcPts val="600"/>
              </a:spcAft>
              <a:defRPr sz="1200">
                <a:solidFill>
                  <a:srgbClr val="94A3B8"/>
                </a:solidFill>
                <a:latin typeface="Calibri"/>
              </a:defRPr>
            </a:pPr>
            <a:r>
              <a:t>🔮 Google Maps Distance Matrix API</a:t>
            </a:r>
          </a:p>
          <a:p>
            <a:pPr>
              <a:spcAft>
                <a:spcPts val="600"/>
              </a:spcAft>
              <a:defRPr sz="1200">
                <a:solidFill>
                  <a:srgbClr val="94A3B8"/>
                </a:solidFill>
                <a:latin typeface="Calibri"/>
              </a:defRPr>
            </a:pPr>
            <a:r>
              <a:t>    (real road distances)</a:t>
            </a:r>
          </a:p>
          <a:p>
            <a:pPr>
              <a:spcAft>
                <a:spcPts val="600"/>
              </a:spcAft>
              <a:defRPr sz="1200">
                <a:solidFill>
                  <a:srgbClr val="94A3B8"/>
                </a:solidFill>
                <a:latin typeface="Calibri"/>
              </a:defRPr>
            </a:pPr>
            <a:r>
              <a:t>🔮 ML-based demand forecasting</a:t>
            </a:r>
          </a:p>
          <a:p>
            <a:pPr>
              <a:spcAft>
                <a:spcPts val="600"/>
              </a:spcAft>
              <a:defRPr sz="1200">
                <a:solidFill>
                  <a:srgbClr val="94A3B8"/>
                </a:solidFill>
                <a:latin typeface="Calibri"/>
              </a:defRPr>
            </a:pPr>
            <a:r>
              <a:t>🔮 Delivery partner assignment</a:t>
            </a:r>
          </a:p>
          <a:p>
            <a:pPr>
              <a:spcAft>
                <a:spcPts val="600"/>
              </a:spcAft>
              <a:defRPr sz="1200">
                <a:solidFill>
                  <a:srgbClr val="94A3B8"/>
                </a:solidFill>
                <a:latin typeface="Calibri"/>
              </a:defRPr>
            </a:pPr>
            <a:r>
              <a:t>🔮 Mobile-responsive customer app</a:t>
            </a:r>
          </a:p>
          <a:p>
            <a:pPr>
              <a:spcAft>
                <a:spcPts val="600"/>
              </a:spcAft>
              <a:defRPr sz="1200">
                <a:solidFill>
                  <a:srgbClr val="94A3B8"/>
                </a:solidFill>
                <a:latin typeface="Calibri"/>
              </a:defRPr>
            </a:pPr>
            <a:r>
              <a:t>🔮 Admin role management</a:t>
            </a:r>
          </a:p>
          <a:p>
            <a:pPr>
              <a:spcAft>
                <a:spcPts val="600"/>
              </a:spcAft>
              <a:defRPr sz="1200">
                <a:solidFill>
                  <a:srgbClr val="94A3B8"/>
                </a:solidFill>
                <a:latin typeface="Calibri"/>
              </a:defRPr>
            </a:pPr>
            <a:r>
              <a:t>🔮 Email/SMS order notifications</a:t>
            </a:r>
          </a:p>
          <a:p>
            <a:pPr>
              <a:spcAft>
                <a:spcPts val="600"/>
              </a:spcAft>
              <a:defRPr sz="1200">
                <a:solidFill>
                  <a:srgbClr val="94A3B8"/>
                </a:solidFill>
                <a:latin typeface="Calibri"/>
              </a:defRPr>
            </a:pPr>
            <a:r>
              <a:t>🔮 Advanced bin-packing optimization</a:t>
            </a:r>
          </a:p>
        </p:txBody>
      </p:sp>
      <p:sp>
        <p:nvSpPr>
          <p:cNvPr id="11" name="TextBox 10"/>
          <p:cNvSpPr txBox="1"/>
          <p:nvPr/>
        </p:nvSpPr>
        <p:spPr>
          <a:xfrm>
            <a:off x="914400" y="6035040"/>
            <a:ext cx="10332720" cy="457200"/>
          </a:xfrm>
          <a:prstGeom prst="rect">
            <a:avLst/>
          </a:prstGeom>
          <a:noFill/>
        </p:spPr>
        <p:txBody>
          <a:bodyPr wrap="square">
            <a:spAutoFit/>
          </a:bodyPr>
          <a:lstStyle/>
          <a:p>
            <a:pPr algn="ctr">
              <a:defRPr sz="2800" b="1">
                <a:solidFill>
                  <a:srgbClr val="818CF8"/>
                </a:solidFill>
                <a:latin typeface="Calibri"/>
              </a:defRPr>
            </a:pPr>
            <a:r>
              <a:t>Thank You</a:t>
            </a:r>
          </a:p>
        </p:txBody>
      </p:sp>
      <p:sp>
        <p:nvSpPr>
          <p:cNvPr id="12" name="Rectangle 11"/>
          <p:cNvSpPr/>
          <p:nvPr/>
        </p:nvSpPr>
        <p:spPr>
          <a:xfrm>
            <a:off x="0" y="6803136"/>
            <a:ext cx="12191695"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